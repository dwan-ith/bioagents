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18054aa116430c" /><Relationship Type="http://schemas.openxmlformats.org/officeDocument/2006/relationships/extended-properties" Target="/docProps/app.xml" Id="R67c9688a7dc94d8e" /><Relationship Type="http://schemas.openxmlformats.org/officeDocument/2006/relationships/officeDocument" Target="/ppt/presentation.xml" Id="R5c60a5d6d81a41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2395bce7e342c0"/>
  </p:sldMasterIdLst>
  <p:notesMasterIdLst>
    <p:notesMasterId xmlns:r="http://schemas.openxmlformats.org/officeDocument/2006/relationships" r:id="R5c9a5c58641a4903"/>
  </p:notesMasterIdLst>
  <p:sldIdLst>
    <p:sldId xmlns:r="http://schemas.openxmlformats.org/officeDocument/2006/relationships" id="256" r:id="R6a863cb5fd654d75"/>
    <p:sldId xmlns:r="http://schemas.openxmlformats.org/officeDocument/2006/relationships" id="257" r:id="Rb6a19a8c9d1e4f01"/>
    <p:sldId xmlns:r="http://schemas.openxmlformats.org/officeDocument/2006/relationships" id="258" r:id="Rceebf0195840435c"/>
    <p:sldId xmlns:r="http://schemas.openxmlformats.org/officeDocument/2006/relationships" id="259" r:id="Rb22c133cef6e4003"/>
    <p:sldId xmlns:r="http://schemas.openxmlformats.org/officeDocument/2006/relationships" id="260" r:id="Rf861bd12a82e4879"/>
    <p:sldId xmlns:r="http://schemas.openxmlformats.org/officeDocument/2006/relationships" id="261" r:id="Rd23c0f3bb58a4d7b"/>
    <p:sldId xmlns:r="http://schemas.openxmlformats.org/officeDocument/2006/relationships" id="262" r:id="Rf987a6c95ba34255"/>
    <p:sldId xmlns:r="http://schemas.openxmlformats.org/officeDocument/2006/relationships" id="263" r:id="R74f68362201b4ec1"/>
    <p:sldId xmlns:r="http://schemas.openxmlformats.org/officeDocument/2006/relationships" id="264" r:id="Raa5a42da8e464144"/>
    <p:sldId xmlns:r="http://schemas.openxmlformats.org/officeDocument/2006/relationships" id="265" r:id="R268155536d534a38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2395bce7e342c0" /><Relationship Type="http://schemas.openxmlformats.org/officeDocument/2006/relationships/theme" Target="/ppt/theme/theme1.xml" Id="Rbf3dccde41d24522" /><Relationship Type="http://schemas.openxmlformats.org/officeDocument/2006/relationships/notesMaster" Target="/ppt/notesMasters/notesMaster1.xml" Id="R5c9a5c58641a4903" /><Relationship Type="http://schemas.openxmlformats.org/officeDocument/2006/relationships/presProps" Target="/ppt/presProps.xml" Id="Re25620ddf5e3450f" /><Relationship Type="http://schemas.openxmlformats.org/officeDocument/2006/relationships/viewProps" Target="/ppt/viewProps.xml" Id="R2991f9db5a2c4c94" /><Relationship Type="http://schemas.openxmlformats.org/officeDocument/2006/relationships/tableStyles" Target="/ppt/tableStyles.xml" Id="R9f1b193991da411b" /><Relationship Type="http://schemas.openxmlformats.org/officeDocument/2006/relationships/slide" Target="/ppt/slides/slide1.xml" Id="R6a863cb5fd654d75" /><Relationship Type="http://schemas.openxmlformats.org/officeDocument/2006/relationships/slide" Target="/ppt/slides/slide2.xml" Id="Rb6a19a8c9d1e4f01" /><Relationship Type="http://schemas.openxmlformats.org/officeDocument/2006/relationships/slide" Target="/ppt/slides/slide3.xml" Id="Rceebf0195840435c" /><Relationship Type="http://schemas.openxmlformats.org/officeDocument/2006/relationships/slide" Target="/ppt/slides/slide4.xml" Id="Rb22c133cef6e4003" /><Relationship Type="http://schemas.openxmlformats.org/officeDocument/2006/relationships/slide" Target="/ppt/slides/slide5.xml" Id="Rf861bd12a82e4879" /><Relationship Type="http://schemas.openxmlformats.org/officeDocument/2006/relationships/slide" Target="/ppt/slides/slide6.xml" Id="Rd23c0f3bb58a4d7b" /><Relationship Type="http://schemas.openxmlformats.org/officeDocument/2006/relationships/slide" Target="/ppt/slides/slide7.xml" Id="Rf987a6c95ba34255" /><Relationship Type="http://schemas.openxmlformats.org/officeDocument/2006/relationships/slide" Target="/ppt/slides/slide8.xml" Id="R74f68362201b4ec1" /><Relationship Type="http://schemas.openxmlformats.org/officeDocument/2006/relationships/slide" Target="/ppt/slides/slide9.xml" Id="Raa5a42da8e464144" /><Relationship Type="http://schemas.openxmlformats.org/officeDocument/2006/relationships/slide" Target="/ppt/slides/slide10.xml" Id="R268155536d534a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85c1f8fa4a24a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aa78478fc24797" /><Relationship Type="http://schemas.openxmlformats.org/officeDocument/2006/relationships/notesMaster" Target="/ppt/notesMasters/notesMaster1.xml" Id="Rd2db35eac4a645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314fc788644f7a" /><Relationship Type="http://schemas.openxmlformats.org/officeDocument/2006/relationships/notesMaster" Target="/ppt/notesMasters/notesMaster1.xml" Id="R7296f14527b548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ba4a9e8bf24ebc" /><Relationship Type="http://schemas.openxmlformats.org/officeDocument/2006/relationships/notesMaster" Target="/ppt/notesMasters/notesMaster1.xml" Id="R8927b9560dd640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9fb85c341745e2" /><Relationship Type="http://schemas.openxmlformats.org/officeDocument/2006/relationships/notesMaster" Target="/ppt/notesMasters/notesMaster1.xml" Id="R3ee7b170e1804c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6f008460f540ad" /><Relationship Type="http://schemas.openxmlformats.org/officeDocument/2006/relationships/notesMaster" Target="/ppt/notesMasters/notesMaster1.xml" Id="Rbb229afa77da41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d45674ee574b50" /><Relationship Type="http://schemas.openxmlformats.org/officeDocument/2006/relationships/notesMaster" Target="/ppt/notesMasters/notesMaster1.xml" Id="Rc16cf14a84c542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4e6a9907a3472c" /><Relationship Type="http://schemas.openxmlformats.org/officeDocument/2006/relationships/notesMaster" Target="/ppt/notesMasters/notesMaster1.xml" Id="Raf39a1ee91064e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8a585f53cf4069" /><Relationship Type="http://schemas.openxmlformats.org/officeDocument/2006/relationships/notesMaster" Target="/ppt/notesMasters/notesMaster1.xml" Id="Rbef74ddc997849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a59b6ced3a4a2b" /><Relationship Type="http://schemas.openxmlformats.org/officeDocument/2006/relationships/notesMaster" Target="/ppt/notesMasters/notesMaster1.xml" Id="Rbbdf2d011ed14b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a0e9f30b254b5e" /><Relationship Type="http://schemas.openxmlformats.org/officeDocument/2006/relationships/notesMaster" Target="/ppt/notesMasters/notesMaster1.xml" Id="R3c1b8c86fff740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BioAgents as the bridge between structured scientific knowledge, practical web tooling, and optional autonomous-agent execution. Emphasize that the default app works without distributed infrastructure, while still supporting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from the user's lived issue: a GitHub clone missing the service layer is exactly the kind of reliability failure the system must avoid. This slide sets up why architecture and tests matter, not just AI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split between deterministic domain services and optional LLM enrichment. The system should feel robust even in a low-connectivity or no-key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this is the key reliability decision: local direct-service Flask is the default runtime. uAgents are kept as a deployment path rather than a startup dependency.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right: the app is not only an LLM wrapper. It has a service-per-capability structure that can be tested and extended.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clear that OpenAI is central to the desired experience, but the product does not collapse without it. This also makes testing dramatically easier.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reassure technical reviewers: agents are not duplicating logic. They are adapters around the same tested service classes used by Flask.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live demo script. The important part is that each step is visible and maps to a service and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you can confidently answer: yes, it works locally, and the current main tree includes services. Mention that tests should be committed and kept as a guardrail.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practical engineering and science improvements. The strongest next proof is a clean fresh clone plus CI, then richer domain data and feedback learning.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5f3e81a515435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08a0de5b6bd4ec3" /><Relationship Type="http://schemas.openxmlformats.org/officeDocument/2006/relationships/slideLayout" Target="/ppt/slideLayouts/slideLayout2.xml" Id="R3a93282f972443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93282f972443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0885ffcad84bf3" /><Relationship Type="http://schemas.openxmlformats.org/officeDocument/2006/relationships/notesSlide" Target="/ppt/notesSlides/notesSlide1.xml" Id="Rc59f752dd75446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824254d625401b" /><Relationship Type="http://schemas.openxmlformats.org/officeDocument/2006/relationships/notesSlide" Target="/ppt/notesSlides/notesSlide2.xml" Id="Rd1829da37b6144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9cd2c62b3140a6" /><Relationship Type="http://schemas.openxmlformats.org/officeDocument/2006/relationships/notesSlide" Target="/ppt/notesSlides/notesSlide3.xml" Id="R1399c51ac44543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647fc6143e4f3f" /><Relationship Type="http://schemas.openxmlformats.org/officeDocument/2006/relationships/notesSlide" Target="/ppt/notesSlides/notesSlide4.xml" Id="R9c894807d89540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d0dc061f7541d5" /><Relationship Type="http://schemas.openxmlformats.org/officeDocument/2006/relationships/notesSlide" Target="/ppt/notesSlides/notesSlide5.xml" Id="R418ca1f74dd340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ffa217953f45d6" /><Relationship Type="http://schemas.openxmlformats.org/officeDocument/2006/relationships/notesSlide" Target="/ppt/notesSlides/notesSlide6.xml" Id="R4c35f002d0d34f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615fca8a57483e" /><Relationship Type="http://schemas.openxmlformats.org/officeDocument/2006/relationships/notesSlide" Target="/ppt/notesSlides/notesSlide7.xml" Id="R54a92c52dc3b4b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73eda7709e4b97" /><Relationship Type="http://schemas.openxmlformats.org/officeDocument/2006/relationships/notesSlide" Target="/ppt/notesSlides/notesSlide8.xml" Id="R582e301c0d0c48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46b977d46d4e2f" /><Relationship Type="http://schemas.openxmlformats.org/officeDocument/2006/relationships/notesSlide" Target="/ppt/notesSlides/notesSlide9.xml" Id="Rf83fd8daed7042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4088f01fe74c1d" /><Relationship Type="http://schemas.openxmlformats.org/officeDocument/2006/relationships/notesSlide" Target="/ppt/notesSlides/notesSlide10.xml" Id="Rf3ddc81753004cb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E72E45CA-BDD4-4119-ACF0-7BE3EB4C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14"/>
          </a:solidFill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FE7BC2C3-4A5B-4B7C-BA93-B9A0B70D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4857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BC7A5"/>
                </a:solidFill>
              </a:defRPr>
            </a:pPr>
            <a:r>
              <a:rPr sz="1800" b="1">
                <a:solidFill>
                  <a:srgbClr val="7BC7A5"/>
                </a:solidFill>
              </a:rPr>
              <a:t>OPENAI-PRIMARY. LOCAL FALLBACK. AGENT-READY.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F87D173-8856-4634-A51E-9B645926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88582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FFFFF"/>
                </a:solidFill>
              </a:defRPr>
            </a:pPr>
            <a:r>
              <a:rPr sz="6600" b="1">
                <a:solidFill>
                  <a:srgbClr val="FFFFFF"/>
                </a:solidFill>
              </a:rPr>
              <a:t>BioAgents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7A0BD763-4B46-4F6B-84A1-C7944230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C7A5"/>
          </a:solidFill>
          <a:ln xmlns:a="http://schemas.openxmlformats.org/drawingml/2006/main" w="0">
            <a:solidFill>
              <a:srgbClr val="7BC7A5"/>
            </a:solidFill>
            <a:prstDash val="solid"/>
          </a:ln>
        </p:spPr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C8E20CF-D48D-4CF8-91CE-84A79AA5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67400"/>
            <a:ext cx="65151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C8D9D5"/>
                </a:solidFill>
              </a:defRPr>
            </a:pPr>
            <a:r>
              <a:rPr sz="2475" b="0">
                <a:solidFill>
                  <a:srgbClr val="C8D9D5"/>
                </a:solidFill>
              </a:rPr>
              <a:t>A multi-agent AI layer for synthetic biology, catalyst screening, and explainable discovery workflows.</a:t>
            </a:r>
          </a:p>
        </p:txBody>
      </p:sp>
      <p:sp>
        <p:nvSpPr>
          <p:cNvPr id="6" name="cover-orbit">
            <a:extLst xmlns:a="http://schemas.openxmlformats.org/drawingml/2006/main">
              <a:ext uri="{FF2B5EF4-FFF2-40B4-BE49-F238E27FC236}">
                <a16:creationId xmlns:a16="http://schemas.microsoft.com/office/drawing/2014/main" id="{F5C28ED2-FAE4-49B0-AB9F-6B6E8B2D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430" y="876300"/>
            <a:ext cx="6541770" cy="8534400"/>
          </a:xfrm>
          <a:prstGeom xmlns:a="http://schemas.openxmlformats.org/drawingml/2006/main" prst="roundRect">
            <a:avLst>
              <a:gd name="adj" fmla="val 5242"/>
            </a:avLst>
          </a:prstGeom>
          <a:solidFill xmlns:a="http://schemas.openxmlformats.org/drawingml/2006/main">
            <a:srgbClr val="0E2422"/>
          </a:solidFill>
          <a:ln xmlns:a="http://schemas.openxmlformats.org/drawingml/2006/main" w="19050">
            <a:solidFill>
              <a:srgbClr val="31524B"/>
            </a:solidFill>
            <a:prstDash val="solid"/>
          </a:ln>
        </p:spPr>
      </p:sp>
      <p:sp>
        <p:nvSpPr>
          <p:cNvPr id="7" name="node-Compound">
            <a:extLst xmlns:a="http://schemas.openxmlformats.org/drawingml/2006/main">
              <a:ext uri="{FF2B5EF4-FFF2-40B4-BE49-F238E27FC236}">
                <a16:creationId xmlns:a16="http://schemas.microsoft.com/office/drawing/2014/main" id="{E07D465B-5D5C-4BB7-BB19-6630298C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030" y="1104900"/>
            <a:ext cx="191389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BC7A5"/>
            </a:solidFill>
            <a:prstDash val="solid"/>
          </a:ln>
        </p:spPr>
      </p:sp>
      <p:sp>
        <p:nvSpPr>
          <p:cNvPr id="8" name="node-title-Compound">
            <a:extLst xmlns:a="http://schemas.openxmlformats.org/drawingml/2006/main">
              <a:ext uri="{FF2B5EF4-FFF2-40B4-BE49-F238E27FC236}">
                <a16:creationId xmlns:a16="http://schemas.microsoft.com/office/drawing/2014/main" id="{5905495C-BE80-4FBA-9AA1-B32862EC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276350"/>
            <a:ext cx="1485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1B1E"/>
                </a:solidFill>
              </a:defRPr>
            </a:pPr>
            <a:r>
              <a:rPr sz="1725" b="1">
                <a:solidFill>
                  <a:srgbClr val="0D1B1E"/>
                </a:solidFill>
              </a:rPr>
              <a:t>Compound</a:t>
            </a:r>
          </a:p>
        </p:txBody>
      </p:sp>
      <p:sp>
        <p:nvSpPr>
          <p:cNvPr id="9" name="node-sub-Compound">
            <a:extLst xmlns:a="http://schemas.openxmlformats.org/drawingml/2006/main">
              <a:ext uri="{FF2B5EF4-FFF2-40B4-BE49-F238E27FC236}">
                <a16:creationId xmlns:a16="http://schemas.microsoft.com/office/drawing/2014/main" id="{3F18C28D-DB50-43FD-9641-00116A26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600200"/>
            <a:ext cx="148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7376"/>
                </a:solidFill>
              </a:defRPr>
            </a:pPr>
            <a:r>
              <a:rPr sz="1275" b="0">
                <a:solidFill>
                  <a:srgbClr val="5D7376"/>
                </a:solidFill>
              </a:rPr>
              <a:t>Profiles and properties</a:t>
            </a:r>
          </a:p>
        </p:txBody>
      </p:sp>
      <p:sp>
        <p:nvSpPr>
          <p:cNvPr id="10" name="node-Reaction">
            <a:extLst xmlns:a="http://schemas.openxmlformats.org/drawingml/2006/main">
              <a:ext uri="{FF2B5EF4-FFF2-40B4-BE49-F238E27FC236}">
                <a16:creationId xmlns:a16="http://schemas.microsoft.com/office/drawing/2014/main" id="{862DCCB0-5DFD-4258-B4EE-B4E218B7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370" y="1104900"/>
            <a:ext cx="191389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F5B4D"/>
            </a:solidFill>
            <a:prstDash val="solid"/>
          </a:ln>
        </p:spPr>
      </p:sp>
      <p:sp>
        <p:nvSpPr>
          <p:cNvPr id="11" name="node-title-Reaction">
            <a:extLst xmlns:a="http://schemas.openxmlformats.org/drawingml/2006/main">
              <a:ext uri="{FF2B5EF4-FFF2-40B4-BE49-F238E27FC236}">
                <a16:creationId xmlns:a16="http://schemas.microsoft.com/office/drawing/2014/main" id="{DC18E606-3686-4A4E-B928-75BB0ED3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1276350"/>
            <a:ext cx="1485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1B1E"/>
                </a:solidFill>
              </a:defRPr>
            </a:pPr>
            <a:r>
              <a:rPr sz="1725" b="1">
                <a:solidFill>
                  <a:srgbClr val="0D1B1E"/>
                </a:solidFill>
              </a:rPr>
              <a:t>Reaction</a:t>
            </a:r>
          </a:p>
        </p:txBody>
      </p:sp>
      <p:sp>
        <p:nvSpPr>
          <p:cNvPr id="12" name="node-sub-Reaction">
            <a:extLst xmlns:a="http://schemas.openxmlformats.org/drawingml/2006/main">
              <a:ext uri="{FF2B5EF4-FFF2-40B4-BE49-F238E27FC236}">
                <a16:creationId xmlns:a16="http://schemas.microsoft.com/office/drawing/2014/main" id="{7A92ABFF-1FC3-4EDF-933E-5A9359D5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1600200"/>
            <a:ext cx="1485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7376"/>
                </a:solidFill>
              </a:defRPr>
            </a:pPr>
            <a:r>
              <a:rPr sz="1275" b="0">
                <a:solidFill>
                  <a:srgbClr val="5D7376"/>
                </a:solidFill>
              </a:rPr>
              <a:t>Risk and interaction logic</a:t>
            </a:r>
          </a:p>
        </p:txBody>
      </p:sp>
      <p:sp>
        <p:nvSpPr>
          <p:cNvPr id="13" name="node-Research">
            <a:extLst xmlns:a="http://schemas.openxmlformats.org/drawingml/2006/main">
              <a:ext uri="{FF2B5EF4-FFF2-40B4-BE49-F238E27FC236}">
                <a16:creationId xmlns:a16="http://schemas.microsoft.com/office/drawing/2014/main" id="{3AA0E77D-5ED2-4ACC-9885-4084A246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710" y="1104900"/>
            <a:ext cx="191389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275D8"/>
            </a:solidFill>
            <a:prstDash val="solid"/>
          </a:ln>
        </p:spPr>
      </p:sp>
      <p:sp>
        <p:nvSpPr>
          <p:cNvPr id="14" name="node-title-Research">
            <a:extLst xmlns:a="http://schemas.openxmlformats.org/drawingml/2006/main">
              <a:ext uri="{FF2B5EF4-FFF2-40B4-BE49-F238E27FC236}">
                <a16:creationId xmlns:a16="http://schemas.microsoft.com/office/drawing/2014/main" id="{723659E9-1CF4-4B55-BE11-2D46E01C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1276350"/>
            <a:ext cx="1485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1B1E"/>
                </a:solidFill>
              </a:defRPr>
            </a:pPr>
            <a:r>
              <a:rPr sz="1725" b="1">
                <a:solidFill>
                  <a:srgbClr val="0D1B1E"/>
                </a:solidFill>
              </a:rPr>
              <a:t>Research</a:t>
            </a:r>
          </a:p>
        </p:txBody>
      </p:sp>
      <p:sp>
        <p:nvSpPr>
          <p:cNvPr id="15" name="node-sub-Research">
            <a:extLst xmlns:a="http://schemas.openxmlformats.org/drawingml/2006/main">
              <a:ext uri="{FF2B5EF4-FFF2-40B4-BE49-F238E27FC236}">
                <a16:creationId xmlns:a16="http://schemas.microsoft.com/office/drawing/2014/main" id="{B1AAFE2D-F5AE-4447-8769-7046E238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1600200"/>
            <a:ext cx="148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7376"/>
                </a:solidFill>
              </a:defRPr>
            </a:pPr>
            <a:r>
              <a:rPr sz="1275" b="0">
                <a:solidFill>
                  <a:srgbClr val="5D7376"/>
                </a:solidFill>
              </a:rPr>
              <a:t>Candidate discovery</a:t>
            </a:r>
          </a:p>
        </p:txBody>
      </p:sp>
      <p:sp>
        <p:nvSpPr>
          <p:cNvPr id="16" name="node-Analysis">
            <a:extLst xmlns:a="http://schemas.openxmlformats.org/drawingml/2006/main">
              <a:ext uri="{FF2B5EF4-FFF2-40B4-BE49-F238E27FC236}">
                <a16:creationId xmlns:a16="http://schemas.microsoft.com/office/drawing/2014/main" id="{0077BB5A-CC2E-478D-BDD2-E05A9F68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030" y="3854450"/>
            <a:ext cx="191389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4A83A"/>
            </a:solidFill>
            <a:prstDash val="solid"/>
          </a:ln>
        </p:spPr>
      </p:sp>
      <p:sp>
        <p:nvSpPr>
          <p:cNvPr id="17" name="node-title-Analysis">
            <a:extLst xmlns:a="http://schemas.openxmlformats.org/drawingml/2006/main">
              <a:ext uri="{FF2B5EF4-FFF2-40B4-BE49-F238E27FC236}">
                <a16:creationId xmlns:a16="http://schemas.microsoft.com/office/drawing/2014/main" id="{C41701D5-B124-404C-BFEB-77E87F4A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019550"/>
            <a:ext cx="1485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1B1E"/>
                </a:solidFill>
              </a:defRPr>
            </a:pPr>
            <a:r>
              <a:rPr sz="1725" b="1">
                <a:solidFill>
                  <a:srgbClr val="0D1B1E"/>
                </a:solidFill>
              </a:rPr>
              <a:t>Analysis</a:t>
            </a:r>
          </a:p>
        </p:txBody>
      </p:sp>
      <p:sp>
        <p:nvSpPr>
          <p:cNvPr id="18" name="node-sub-Analysis">
            <a:extLst xmlns:a="http://schemas.openxmlformats.org/drawingml/2006/main">
              <a:ext uri="{FF2B5EF4-FFF2-40B4-BE49-F238E27FC236}">
                <a16:creationId xmlns:a16="http://schemas.microsoft.com/office/drawing/2014/main" id="{B2C5F4DD-492C-478D-8D91-615B0895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43400"/>
            <a:ext cx="148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7376"/>
                </a:solidFill>
              </a:defRPr>
            </a:pPr>
            <a:r>
              <a:rPr sz="1275" b="0">
                <a:solidFill>
                  <a:srgbClr val="5D7376"/>
                </a:solidFill>
              </a:rPr>
              <a:t>Ranking and statistics</a:t>
            </a:r>
          </a:p>
        </p:txBody>
      </p:sp>
      <p:sp>
        <p:nvSpPr>
          <p:cNvPr id="19" name="core-node">
            <a:extLst xmlns:a="http://schemas.openxmlformats.org/drawingml/2006/main">
              <a:ext uri="{FF2B5EF4-FFF2-40B4-BE49-F238E27FC236}">
                <a16:creationId xmlns:a16="http://schemas.microsoft.com/office/drawing/2014/main" id="{93AB2249-9BDA-4DFF-A987-E7D54421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370" y="3854450"/>
            <a:ext cx="1913890" cy="2578100"/>
          </a:xfrm>
          <a:prstGeom xmlns:a="http://schemas.openxmlformats.org/drawingml/2006/main" prst="roundRect">
            <a:avLst>
              <a:gd name="adj" fmla="val 9954"/>
            </a:avLst>
          </a:prstGeom>
          <a:solidFill xmlns:a="http://schemas.openxmlformats.org/drawingml/2006/main">
            <a:srgbClr val="7BC7A5"/>
          </a:solidFill>
        </p:spPr>
      </p:sp>
      <p:sp>
        <p:nvSpPr>
          <p:cNvPr id="20" name="core-node-title">
            <a:extLst xmlns:a="http://schemas.openxmlformats.org/drawingml/2006/main">
              <a:ext uri="{FF2B5EF4-FFF2-40B4-BE49-F238E27FC236}">
                <a16:creationId xmlns:a16="http://schemas.microsoft.com/office/drawing/2014/main" id="{D99455BB-2C1F-4FAB-958B-71A1BFB3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4591050"/>
            <a:ext cx="1485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71514"/>
                </a:solidFill>
              </a:defRPr>
            </a:pPr>
            <a:r>
              <a:rPr sz="2025" b="1">
                <a:solidFill>
                  <a:srgbClr val="071514"/>
                </a:solidFill>
              </a:rPr>
              <a:t>Knowledge core</a:t>
            </a:r>
          </a:p>
        </p:txBody>
      </p:sp>
      <p:sp>
        <p:nvSpPr>
          <p:cNvPr id="21" name="core-node-sub">
            <a:extLst xmlns:a="http://schemas.openxmlformats.org/drawingml/2006/main">
              <a:ext uri="{FF2B5EF4-FFF2-40B4-BE49-F238E27FC236}">
                <a16:creationId xmlns:a16="http://schemas.microsoft.com/office/drawing/2014/main" id="{9E1DB821-3C1B-4CB5-B2F0-0252EF6F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5276850"/>
            <a:ext cx="1485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71514"/>
                </a:solidFill>
              </a:defRPr>
            </a:pPr>
            <a:r>
              <a:rPr sz="1350" b="0">
                <a:solidFill>
                  <a:srgbClr val="071514"/>
                </a:solidFill>
              </a:rPr>
              <a:t>MeTTa facts + services</a:t>
            </a:r>
          </a:p>
        </p:txBody>
      </p:sp>
      <p:sp>
        <p:nvSpPr>
          <p:cNvPr id="22" name="node-Database">
            <a:extLst xmlns:a="http://schemas.openxmlformats.org/drawingml/2006/main">
              <a:ext uri="{FF2B5EF4-FFF2-40B4-BE49-F238E27FC236}">
                <a16:creationId xmlns:a16="http://schemas.microsoft.com/office/drawing/2014/main" id="{64ECB298-5F9D-4170-A423-A493420B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710" y="3854450"/>
            <a:ext cx="191389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D5BD0"/>
            </a:solidFill>
            <a:prstDash val="solid"/>
          </a:ln>
        </p:spPr>
      </p:sp>
      <p:sp>
        <p:nvSpPr>
          <p:cNvPr id="23" name="node-title-Database">
            <a:extLst xmlns:a="http://schemas.openxmlformats.org/drawingml/2006/main">
              <a:ext uri="{FF2B5EF4-FFF2-40B4-BE49-F238E27FC236}">
                <a16:creationId xmlns:a16="http://schemas.microsoft.com/office/drawing/2014/main" id="{A71E907D-8583-4C93-A4FB-03451D6E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4019550"/>
            <a:ext cx="1485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1B1E"/>
                </a:solidFill>
              </a:defRPr>
            </a:pPr>
            <a:r>
              <a:rPr sz="1725" b="1">
                <a:solidFill>
                  <a:srgbClr val="0D1B1E"/>
                </a:solidFill>
              </a:rPr>
              <a:t>Database</a:t>
            </a:r>
          </a:p>
        </p:txBody>
      </p:sp>
      <p:sp>
        <p:nvSpPr>
          <p:cNvPr id="24" name="node-sub-Database">
            <a:extLst xmlns:a="http://schemas.openxmlformats.org/drawingml/2006/main">
              <a:ext uri="{FF2B5EF4-FFF2-40B4-BE49-F238E27FC236}">
                <a16:creationId xmlns:a16="http://schemas.microsoft.com/office/drawing/2014/main" id="{608409DE-BD15-4462-A121-BDF2DD48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4343400"/>
            <a:ext cx="148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7376"/>
                </a:solidFill>
              </a:defRPr>
            </a:pPr>
            <a:r>
              <a:rPr sz="1275" b="0">
                <a:solidFill>
                  <a:srgbClr val="5D7376"/>
                </a:solidFill>
              </a:rPr>
              <a:t>PubChem lookup</a:t>
            </a:r>
          </a:p>
        </p:txBody>
      </p:sp>
      <p:sp>
        <p:nvSpPr>
          <p:cNvPr id="25" name="node-LLM">
            <a:extLst xmlns:a="http://schemas.openxmlformats.org/drawingml/2006/main">
              <a:ext uri="{FF2B5EF4-FFF2-40B4-BE49-F238E27FC236}">
                <a16:creationId xmlns:a16="http://schemas.microsoft.com/office/drawing/2014/main" id="{3AEFBA41-6C08-417A-A0C9-F423B91D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030" y="6604000"/>
            <a:ext cx="191389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8E8A"/>
            </a:solidFill>
            <a:prstDash val="solid"/>
          </a:ln>
        </p:spPr>
      </p:sp>
      <p:sp>
        <p:nvSpPr>
          <p:cNvPr id="26" name="node-title-LLM">
            <a:extLst xmlns:a="http://schemas.openxmlformats.org/drawingml/2006/main">
              <a:ext uri="{FF2B5EF4-FFF2-40B4-BE49-F238E27FC236}">
                <a16:creationId xmlns:a16="http://schemas.microsoft.com/office/drawing/2014/main" id="{48F81779-2F31-4334-A867-79E0C342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781800"/>
            <a:ext cx="1485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1B1E"/>
                </a:solidFill>
              </a:defRPr>
            </a:pPr>
            <a:r>
              <a:rPr sz="1725" b="1">
                <a:solidFill>
                  <a:srgbClr val="0D1B1E"/>
                </a:solidFill>
              </a:rPr>
              <a:t>LLM</a:t>
            </a:r>
          </a:p>
        </p:txBody>
      </p:sp>
      <p:sp>
        <p:nvSpPr>
          <p:cNvPr id="27" name="node-sub-LLM">
            <a:extLst xmlns:a="http://schemas.openxmlformats.org/drawingml/2006/main">
              <a:ext uri="{FF2B5EF4-FFF2-40B4-BE49-F238E27FC236}">
                <a16:creationId xmlns:a16="http://schemas.microsoft.com/office/drawing/2014/main" id="{94EF9763-3A4A-4143-8725-8275FC98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7086600"/>
            <a:ext cx="148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7376"/>
                </a:solidFill>
              </a:defRPr>
            </a:pPr>
            <a:r>
              <a:rPr sz="1275" b="0">
                <a:solidFill>
                  <a:srgbClr val="5D7376"/>
                </a:solidFill>
              </a:rPr>
              <a:t>OpenAI insights</a:t>
            </a:r>
          </a:p>
        </p:txBody>
      </p:sp>
      <p:sp>
        <p:nvSpPr>
          <p:cNvPr id="28" name="node-Feedback">
            <a:extLst xmlns:a="http://schemas.openxmlformats.org/drawingml/2006/main">
              <a:ext uri="{FF2B5EF4-FFF2-40B4-BE49-F238E27FC236}">
                <a16:creationId xmlns:a16="http://schemas.microsoft.com/office/drawing/2014/main" id="{8B35F29C-7E41-4B4D-9A29-B40D9B3E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370" y="6604000"/>
            <a:ext cx="191389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4A83A"/>
            </a:solidFill>
            <a:prstDash val="solid"/>
          </a:ln>
        </p:spPr>
      </p:sp>
      <p:sp>
        <p:nvSpPr>
          <p:cNvPr id="29" name="node-title-Feedback">
            <a:extLst xmlns:a="http://schemas.openxmlformats.org/drawingml/2006/main">
              <a:ext uri="{FF2B5EF4-FFF2-40B4-BE49-F238E27FC236}">
                <a16:creationId xmlns:a16="http://schemas.microsoft.com/office/drawing/2014/main" id="{662884E9-B632-4AC1-A349-714DC3BC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6781800"/>
            <a:ext cx="1485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1B1E"/>
                </a:solidFill>
              </a:defRPr>
            </a:pPr>
            <a:r>
              <a:rPr sz="1725" b="1">
                <a:solidFill>
                  <a:srgbClr val="0D1B1E"/>
                </a:solidFill>
              </a:rPr>
              <a:t>Feedback</a:t>
            </a:r>
          </a:p>
        </p:txBody>
      </p:sp>
      <p:sp>
        <p:nvSpPr>
          <p:cNvPr id="30" name="node-sub-Feedback">
            <a:extLst xmlns:a="http://schemas.openxmlformats.org/drawingml/2006/main">
              <a:ext uri="{FF2B5EF4-FFF2-40B4-BE49-F238E27FC236}">
                <a16:creationId xmlns:a16="http://schemas.microsoft.com/office/drawing/2014/main" id="{1FB801B7-F01F-48A1-9A76-ACF11D2F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7086600"/>
            <a:ext cx="148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7376"/>
                </a:solidFill>
              </a:defRPr>
            </a:pPr>
            <a:r>
              <a:rPr sz="1275" b="0">
                <a:solidFill>
                  <a:srgbClr val="5D7376"/>
                </a:solidFill>
              </a:rPr>
              <a:t>Experiment logs</a:t>
            </a:r>
          </a:p>
        </p:txBody>
      </p:sp>
      <p:sp>
        <p:nvSpPr>
          <p:cNvPr id="31" name="node-uAgents">
            <a:extLst xmlns:a="http://schemas.openxmlformats.org/drawingml/2006/main">
              <a:ext uri="{FF2B5EF4-FFF2-40B4-BE49-F238E27FC236}">
                <a16:creationId xmlns:a16="http://schemas.microsoft.com/office/drawing/2014/main" id="{DADF601D-96BD-41C8-9A16-B6B1EFD0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710" y="6604000"/>
            <a:ext cx="191389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BC7A5"/>
            </a:solidFill>
            <a:prstDash val="solid"/>
          </a:ln>
        </p:spPr>
      </p:sp>
      <p:sp>
        <p:nvSpPr>
          <p:cNvPr id="32" name="node-title-uAgents">
            <a:extLst xmlns:a="http://schemas.openxmlformats.org/drawingml/2006/main">
              <a:ext uri="{FF2B5EF4-FFF2-40B4-BE49-F238E27FC236}">
                <a16:creationId xmlns:a16="http://schemas.microsoft.com/office/drawing/2014/main" id="{BCF9A90A-71C9-4C52-A4D5-34753FEC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6781800"/>
            <a:ext cx="1485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1B1E"/>
                </a:solidFill>
              </a:defRPr>
            </a:pPr>
            <a:r>
              <a:rPr sz="1725" b="1">
                <a:solidFill>
                  <a:srgbClr val="0D1B1E"/>
                </a:solidFill>
              </a:rPr>
              <a:t>uAgents</a:t>
            </a:r>
          </a:p>
        </p:txBody>
      </p:sp>
      <p:sp>
        <p:nvSpPr>
          <p:cNvPr id="33" name="node-sub-uAgents">
            <a:extLst xmlns:a="http://schemas.openxmlformats.org/drawingml/2006/main">
              <a:ext uri="{FF2B5EF4-FFF2-40B4-BE49-F238E27FC236}">
                <a16:creationId xmlns:a16="http://schemas.microsoft.com/office/drawing/2014/main" id="{F6826275-951E-43E8-BE82-CE7EAD14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7086600"/>
            <a:ext cx="1485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7376"/>
                </a:solidFill>
              </a:defRPr>
            </a:pPr>
            <a:r>
              <a:rPr sz="1275" b="0">
                <a:solidFill>
                  <a:srgbClr val="5D7376"/>
                </a:solidFill>
              </a:rPr>
              <a:t>Optional distributed runtime</a:t>
            </a:r>
          </a:p>
        </p:txBody>
      </p:sp>
    </p:spTree>
    <p:extLst>
      <p:ext uri="{BB962C8B-B14F-4D97-AF65-F5344CB8AC3E}">
        <p14:creationId xmlns:p14="http://schemas.microsoft.com/office/powerpoint/2010/main" val="4202958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BE225BD-4043-4502-B2E8-6083273F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E8A"/>
                </a:solidFill>
              </a:defRPr>
            </a:pPr>
            <a:r>
              <a:rPr sz="1350" b="1">
                <a:solidFill>
                  <a:srgbClr val="168E8A"/>
                </a:solidFill>
              </a:rPr>
              <a:t>01 / PROBLEM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8BBBE5-291A-4CE6-BAFB-511A540B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09650"/>
            <a:ext cx="123825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B1E"/>
                </a:solidFill>
              </a:defRPr>
            </a:pPr>
            <a:r>
              <a:rPr sz="4350" b="1">
                <a:solidFill>
                  <a:srgbClr val="0D1B1E"/>
                </a:solidFill>
              </a:rPr>
              <a:t>Discovery workflows break when reasoning, data, and execution live in separate tools.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B8C056D-21F8-403E-8E93-A87CCAC9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7600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D7376"/>
                </a:solidFill>
              </a:defRPr>
            </a:pPr>
            <a:r>
              <a:rPr sz="1875" b="0">
                <a:solidFill>
                  <a:srgbClr val="5D7376"/>
                </a:solidFill>
              </a:rPr>
              <a:t>The pain is not just model quality. It is orchestration, traceability, and fallbacks.</a:t>
            </a:r>
          </a:p>
        </p:txBody>
      </p:sp>
      <p:sp>
        <p:nvSpPr>
          <p:cNvPr id="4" name="dot-Fragmented context">
            <a:extLst xmlns:a="http://schemas.openxmlformats.org/drawingml/2006/main">
              <a:ext uri="{FF2B5EF4-FFF2-40B4-BE49-F238E27FC236}">
                <a16:creationId xmlns:a16="http://schemas.microsoft.com/office/drawing/2014/main" id="{D8DD16CD-C0EE-4723-A7FC-298F4236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5B4D"/>
          </a:solidFill>
        </p:spPr>
      </p:sp>
      <p:sp>
        <p:nvSpPr>
          <p:cNvPr id="5" name="bullet-head-Fragmented context">
            <a:extLst xmlns:a="http://schemas.openxmlformats.org/drawingml/2006/main">
              <a:ext uri="{FF2B5EF4-FFF2-40B4-BE49-F238E27FC236}">
                <a16:creationId xmlns:a16="http://schemas.microsoft.com/office/drawing/2014/main" id="{E2A27705-E18C-4599-B579-EAE55191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67250"/>
            <a:ext cx="735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1B1E"/>
                </a:solidFill>
              </a:defRPr>
            </a:pPr>
            <a:r>
              <a:rPr sz="2250" b="1">
                <a:solidFill>
                  <a:srgbClr val="0D1B1E"/>
                </a:solidFill>
              </a:rPr>
              <a:t>Fragmented context</a:t>
            </a:r>
          </a:p>
        </p:txBody>
      </p:sp>
      <p:sp>
        <p:nvSpPr>
          <p:cNvPr id="6" name="bullet-detail-Fragmented context">
            <a:extLst xmlns:a="http://schemas.openxmlformats.org/drawingml/2006/main">
              <a:ext uri="{FF2B5EF4-FFF2-40B4-BE49-F238E27FC236}">
                <a16:creationId xmlns:a16="http://schemas.microsoft.com/office/drawing/2014/main" id="{11159E17-9739-441E-B794-6542F626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67300"/>
            <a:ext cx="7353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D7376"/>
                </a:solidFill>
              </a:defRPr>
            </a:pPr>
            <a:r>
              <a:rPr sz="1650" b="0">
                <a:solidFill>
                  <a:srgbClr val="5D7376"/>
                </a:solidFill>
              </a:rPr>
              <a:t>Compound properties, literature hints, external databases, and experiment notes are usually stitched manually.</a:t>
            </a:r>
          </a:p>
        </p:txBody>
      </p:sp>
      <p:sp>
        <p:nvSpPr>
          <p:cNvPr id="7" name="dot-Brittle automation">
            <a:extLst xmlns:a="http://schemas.openxmlformats.org/drawingml/2006/main">
              <a:ext uri="{FF2B5EF4-FFF2-40B4-BE49-F238E27FC236}">
                <a16:creationId xmlns:a16="http://schemas.microsoft.com/office/drawing/2014/main" id="{EFD59078-228D-4A16-B1FD-D89F6329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A83A"/>
          </a:solidFill>
        </p:spPr>
      </p:sp>
      <p:sp>
        <p:nvSpPr>
          <p:cNvPr id="8" name="bullet-head-Brittle automation">
            <a:extLst xmlns:a="http://schemas.openxmlformats.org/drawingml/2006/main">
              <a:ext uri="{FF2B5EF4-FFF2-40B4-BE49-F238E27FC236}">
                <a16:creationId xmlns:a16="http://schemas.microsoft.com/office/drawing/2014/main" id="{F51B1EF8-1006-4B18-8CF6-A8AB56AE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905500"/>
            <a:ext cx="735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1B1E"/>
                </a:solidFill>
              </a:defRPr>
            </a:pPr>
            <a:r>
              <a:rPr sz="2250" b="1">
                <a:solidFill>
                  <a:srgbClr val="0D1B1E"/>
                </a:solidFill>
              </a:rPr>
              <a:t>Brittle automation</a:t>
            </a:r>
          </a:p>
        </p:txBody>
      </p:sp>
      <p:sp>
        <p:nvSpPr>
          <p:cNvPr id="9" name="bullet-detail-Brittle automation">
            <a:extLst xmlns:a="http://schemas.openxmlformats.org/drawingml/2006/main">
              <a:ext uri="{FF2B5EF4-FFF2-40B4-BE49-F238E27FC236}">
                <a16:creationId xmlns:a16="http://schemas.microsoft.com/office/drawing/2014/main" id="{6FCEB12B-008C-421E-9812-8D99936D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305550"/>
            <a:ext cx="7353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D7376"/>
                </a:solidFill>
              </a:defRPr>
            </a:pPr>
            <a:r>
              <a:rPr sz="1650" b="0">
                <a:solidFill>
                  <a:srgbClr val="5D7376"/>
                </a:solidFill>
              </a:rPr>
              <a:t>A demo that requires hidden local files, a live agent mesh, or a perfect API key is not operational software.</a:t>
            </a:r>
          </a:p>
        </p:txBody>
      </p:sp>
      <p:sp>
        <p:nvSpPr>
          <p:cNvPr id="10" name="dot-Weak explainability">
            <a:extLst xmlns:a="http://schemas.openxmlformats.org/drawingml/2006/main">
              <a:ext uri="{FF2B5EF4-FFF2-40B4-BE49-F238E27FC236}">
                <a16:creationId xmlns:a16="http://schemas.microsoft.com/office/drawing/2014/main" id="{E05E032B-3310-4EA3-A4A6-8C2B0907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24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E8A"/>
          </a:solidFill>
        </p:spPr>
      </p:sp>
      <p:sp>
        <p:nvSpPr>
          <p:cNvPr id="11" name="bullet-head-Weak explainability">
            <a:extLst xmlns:a="http://schemas.openxmlformats.org/drawingml/2006/main">
              <a:ext uri="{FF2B5EF4-FFF2-40B4-BE49-F238E27FC236}">
                <a16:creationId xmlns:a16="http://schemas.microsoft.com/office/drawing/2014/main" id="{9B507F1D-C309-4ECB-9A8C-8C7A0C14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124700"/>
            <a:ext cx="735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1B1E"/>
                </a:solidFill>
              </a:defRPr>
            </a:pPr>
            <a:r>
              <a:rPr sz="2250" b="1">
                <a:solidFill>
                  <a:srgbClr val="0D1B1E"/>
                </a:solidFill>
              </a:rPr>
              <a:t>Weak explainability</a:t>
            </a:r>
          </a:p>
        </p:txBody>
      </p:sp>
      <p:sp>
        <p:nvSpPr>
          <p:cNvPr id="12" name="bullet-detail-Weak explainability">
            <a:extLst xmlns:a="http://schemas.openxmlformats.org/drawingml/2006/main">
              <a:ext uri="{FF2B5EF4-FFF2-40B4-BE49-F238E27FC236}">
                <a16:creationId xmlns:a16="http://schemas.microsoft.com/office/drawing/2014/main" id="{60572963-900A-45A0-95C4-F8BF636C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524750"/>
            <a:ext cx="7353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D7376"/>
                </a:solidFill>
              </a:defRPr>
            </a:pPr>
            <a:r>
              <a:rPr sz="1650" b="0">
                <a:solidFill>
                  <a:srgbClr val="5D7376"/>
                </a:solidFill>
              </a:rPr>
              <a:t>Scientists need to see why a candidate was ranked, not just receive a generated answer.</a:t>
            </a:r>
          </a:p>
        </p:txBody>
      </p:sp>
      <p:sp>
        <p:nvSpPr>
          <p:cNvPr id="13" name="problem-proof">
            <a:extLst xmlns:a="http://schemas.openxmlformats.org/drawingml/2006/main">
              <a:ext uri="{FF2B5EF4-FFF2-40B4-BE49-F238E27FC236}">
                <a16:creationId xmlns:a16="http://schemas.microsoft.com/office/drawing/2014/main" id="{C4D8B959-CAB8-4EA5-9BFC-100798EA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2535" y="3074670"/>
            <a:ext cx="8269165" cy="5143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14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3F659231-B656-4AD3-A603-98BBA058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76700"/>
            <a:ext cx="7505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F5B4D"/>
                </a:solidFill>
              </a:defRPr>
            </a:pPr>
            <a:r>
              <a:rPr sz="1650" b="1">
                <a:solidFill>
                  <a:srgbClr val="CF5B4D"/>
                </a:solidFill>
              </a:rPr>
              <a:t>Failure pattern</a:t>
            </a:r>
          </a:p>
        </p:txBody>
      </p:sp>
      <p:sp>
        <p:nvSpPr>
          <p:cNvPr id="15" name="failure-main">
            <a:extLst xmlns:a="http://schemas.openxmlformats.org/drawingml/2006/main">
              <a:ext uri="{FF2B5EF4-FFF2-40B4-BE49-F238E27FC236}">
                <a16:creationId xmlns:a16="http://schemas.microsoft.com/office/drawing/2014/main" id="{3B834A28-CB9C-401E-B661-30C2336A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33900"/>
            <a:ext cx="75057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D1B1E"/>
                </a:solidFill>
              </a:defRPr>
            </a:pPr>
            <a:r>
              <a:rPr sz="3600" b="1">
                <a:solidFill>
                  <a:srgbClr val="0D1B1E"/>
                </a:solidFill>
              </a:rPr>
              <a:t>Imports succeed on the author's machine, then a fresh clone cannot find core services.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B0350-80CE-4692-B91E-3ED06C79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817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5B4D"/>
          </a:solidFill>
          <a:ln xmlns:a="http://schemas.openxmlformats.org/drawingml/2006/main" w="0">
            <a:solidFill>
              <a:srgbClr val="CF5B4D"/>
            </a:solidFill>
            <a:prstDash val="solid"/>
          </a:ln>
        </p:spPr>
      </p:sp>
      <p:sp>
        <p:nvSpPr>
          <p:cNvPr id="17" name="failure-caption">
            <a:extLst xmlns:a="http://schemas.openxmlformats.org/drawingml/2006/main">
              <a:ext uri="{FF2B5EF4-FFF2-40B4-BE49-F238E27FC236}">
                <a16:creationId xmlns:a16="http://schemas.microsoft.com/office/drawing/2014/main" id="{A5D56551-4915-48C6-8B8E-27D0B52C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48450"/>
            <a:ext cx="7505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D7376"/>
                </a:solidFill>
              </a:defRPr>
            </a:pPr>
            <a:r>
              <a:rPr sz="1875" b="0">
                <a:solidFill>
                  <a:srgbClr val="5D7376"/>
                </a:solidFill>
              </a:rPr>
              <a:t>BioAgents has to be packaged as a coherent product, not a pile of promising modules.</a:t>
            </a:r>
          </a:p>
        </p:txBody>
      </p:sp>
    </p:spTree>
    <p:extLst>
      <p:ext uri="{BB962C8B-B14F-4D97-AF65-F5344CB8AC3E}">
        <p14:creationId xmlns:p14="http://schemas.microsoft.com/office/powerpoint/2010/main" val="447133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0B91525-F99A-4C1D-83F6-F3663CF9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66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E8A"/>
                </a:solidFill>
              </a:defRPr>
            </a:pPr>
            <a:r>
              <a:rPr sz="1350" b="1">
                <a:solidFill>
                  <a:srgbClr val="168E8A"/>
                </a:solidFill>
              </a:rPr>
              <a:t>02 / SOLUTION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43E0C3-2B63-404F-ABDB-0009E50C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19200"/>
            <a:ext cx="126873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B1E"/>
                </a:solidFill>
              </a:defRPr>
            </a:pPr>
            <a:r>
              <a:rPr sz="4350" b="1">
                <a:solidFill>
                  <a:srgbClr val="0D1B1E"/>
                </a:solidFill>
              </a:rPr>
              <a:t>BioAgents turns the repo into a working discovery layer with a stable service core.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6C3F730-2B27-4E5D-91CB-340DE6FD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117919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D7376"/>
                </a:solidFill>
              </a:defRPr>
            </a:pPr>
            <a:r>
              <a:rPr sz="1875" b="0">
                <a:solidFill>
                  <a:srgbClr val="5D7376"/>
                </a:solidFill>
              </a:rPr>
              <a:t>Flask routes call committed services directly; OpenAI enhances the answer when available; local logic keeps the app useful otherwise.</a:t>
            </a:r>
          </a:p>
        </p:txBody>
      </p:sp>
      <p:sp>
        <p:nvSpPr>
          <p:cNvPr id="4" name="solution-kicker">
            <a:extLst xmlns:a="http://schemas.openxmlformats.org/drawingml/2006/main">
              <a:ext uri="{FF2B5EF4-FFF2-40B4-BE49-F238E27FC236}">
                <a16:creationId xmlns:a16="http://schemas.microsoft.com/office/drawing/2014/main" id="{90EB867D-FF9D-4EC4-80D0-9CF6D56D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952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E8A"/>
                </a:solidFill>
              </a:defRPr>
            </a:pPr>
            <a:r>
              <a:rPr sz="1800" b="1">
                <a:solidFill>
                  <a:srgbClr val="168E8A"/>
                </a:solidFill>
              </a:rPr>
              <a:t>The operating principle</a:t>
            </a:r>
          </a:p>
        </p:txBody>
      </p:sp>
      <p:sp>
        <p:nvSpPr>
          <p:cNvPr id="5" name="solution-claim">
            <a:extLst xmlns:a="http://schemas.openxmlformats.org/drawingml/2006/main">
              <a:ext uri="{FF2B5EF4-FFF2-40B4-BE49-F238E27FC236}">
                <a16:creationId xmlns:a16="http://schemas.microsoft.com/office/drawing/2014/main" id="{F33A2591-2ADD-4810-A07A-887DA3AD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971550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D1B1E"/>
                </a:solidFill>
              </a:defRPr>
            </a:pPr>
            <a:r>
              <a:rPr sz="4050" b="1">
                <a:solidFill>
                  <a:srgbClr val="0D1B1E"/>
                </a:solidFill>
              </a:rPr>
              <a:t>Every feature has a deterministic path first, then an AI-augmented path when the API key exists.</a:t>
            </a:r>
          </a:p>
        </p:txBody>
      </p:sp>
      <p:sp>
        <p:nvSpPr>
          <p:cNvPr id="6" name="solution-caption">
            <a:extLst xmlns:a="http://schemas.openxmlformats.org/drawingml/2006/main">
              <a:ext uri="{FF2B5EF4-FFF2-40B4-BE49-F238E27FC236}">
                <a16:creationId xmlns:a16="http://schemas.microsoft.com/office/drawing/2014/main" id="{281E19A3-02CA-4C6F-B98C-37BB40C6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753350"/>
            <a:ext cx="8896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D7376"/>
                </a:solidFill>
              </a:defRPr>
            </a:pPr>
            <a:r>
              <a:rPr sz="2025" b="0">
                <a:solidFill>
                  <a:srgbClr val="5D7376"/>
                </a:solidFill>
              </a:rPr>
              <a:t>That means demos, tests, and a fresh clone are not held hostage by external services.</a:t>
            </a:r>
          </a:p>
        </p:txBody>
      </p:sp>
      <p:sp>
        <p:nvSpPr>
          <p:cNvPr id="7" name="stage-1. Query">
            <a:extLst xmlns:a="http://schemas.openxmlformats.org/drawingml/2006/main">
              <a:ext uri="{FF2B5EF4-FFF2-40B4-BE49-F238E27FC236}">
                <a16:creationId xmlns:a16="http://schemas.microsoft.com/office/drawing/2014/main" id="{C1622850-7BF0-43EB-89D9-2AFE0EC7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3716655"/>
            <a:ext cx="634746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D8"/>
            </a:solidFill>
            <a:prstDash val="solid"/>
          </a:ln>
        </p:spPr>
      </p:sp>
      <p:sp>
        <p:nvSpPr>
          <p:cNvPr id="8" name="stage-chip-1. Query">
            <a:extLst xmlns:a="http://schemas.openxmlformats.org/drawingml/2006/main">
              <a:ext uri="{FF2B5EF4-FFF2-40B4-BE49-F238E27FC236}">
                <a16:creationId xmlns:a16="http://schemas.microsoft.com/office/drawing/2014/main" id="{C24A445A-E0F5-46E4-AE3A-60CF34D8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4019550"/>
            <a:ext cx="16192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75D8"/>
          </a:solidFill>
        </p:spPr>
      </p:sp>
      <p:sp>
        <p:nvSpPr>
          <p:cNvPr id="9" name="stage-chip-1. Query-text">
            <a:extLst xmlns:a="http://schemas.openxmlformats.org/drawingml/2006/main">
              <a:ext uri="{FF2B5EF4-FFF2-40B4-BE49-F238E27FC236}">
                <a16:creationId xmlns:a16="http://schemas.microsoft.com/office/drawing/2014/main" id="{A844B8DB-01BF-4C00-BFB3-0725F4AB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114800"/>
            <a:ext cx="129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1. Query</a:t>
            </a:r>
          </a:p>
        </p:txBody>
      </p:sp>
      <p:sp>
        <p:nvSpPr>
          <p:cNvPr id="10" name="stage-sub-1. Query">
            <a:extLst xmlns:a="http://schemas.openxmlformats.org/drawingml/2006/main">
              <a:ext uri="{FF2B5EF4-FFF2-40B4-BE49-F238E27FC236}">
                <a16:creationId xmlns:a16="http://schemas.microsoft.com/office/drawing/2014/main" id="{29E2CF3B-5615-4010-89B3-88074773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495800"/>
            <a:ext cx="5886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4044"/>
                </a:solidFill>
              </a:defRPr>
            </a:pPr>
            <a:r>
              <a:rPr sz="1425" b="1">
                <a:solidFill>
                  <a:srgbClr val="264044"/>
                </a:solidFill>
              </a:rPr>
              <a:t>User asks about a compound, interaction, target class, or generated candidate.</a:t>
            </a:r>
          </a:p>
        </p:txBody>
      </p:sp>
      <p:sp>
        <p:nvSpPr>
          <p:cNvPr id="11" name="stage-2. Reason">
            <a:extLst xmlns:a="http://schemas.openxmlformats.org/drawingml/2006/main">
              <a:ext uri="{FF2B5EF4-FFF2-40B4-BE49-F238E27FC236}">
                <a16:creationId xmlns:a16="http://schemas.microsoft.com/office/drawing/2014/main" id="{FE04C6D1-1A8F-4297-8C2F-43E3B6FF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5202555"/>
            <a:ext cx="634746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D8"/>
            </a:solidFill>
            <a:prstDash val="solid"/>
          </a:ln>
        </p:spPr>
      </p:sp>
      <p:sp>
        <p:nvSpPr>
          <p:cNvPr id="12" name="stage-chip-2. Reason">
            <a:extLst xmlns:a="http://schemas.openxmlformats.org/drawingml/2006/main">
              <a:ext uri="{FF2B5EF4-FFF2-40B4-BE49-F238E27FC236}">
                <a16:creationId xmlns:a16="http://schemas.microsoft.com/office/drawing/2014/main" id="{3B66EF58-1F76-421B-98CA-3BD3522F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5505450"/>
            <a:ext cx="16192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E8A"/>
          </a:solidFill>
        </p:spPr>
      </p:sp>
      <p:sp>
        <p:nvSpPr>
          <p:cNvPr id="13" name="stage-chip-2. Reason-text">
            <a:extLst xmlns:a="http://schemas.openxmlformats.org/drawingml/2006/main">
              <a:ext uri="{FF2B5EF4-FFF2-40B4-BE49-F238E27FC236}">
                <a16:creationId xmlns:a16="http://schemas.microsoft.com/office/drawing/2014/main" id="{EBC124D7-EA5A-4715-A251-B29372AF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5600700"/>
            <a:ext cx="129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2. Reason</a:t>
            </a:r>
          </a:p>
        </p:txBody>
      </p:sp>
      <p:sp>
        <p:nvSpPr>
          <p:cNvPr id="14" name="stage-sub-2. Reason">
            <a:extLst xmlns:a="http://schemas.openxmlformats.org/drawingml/2006/main">
              <a:ext uri="{FF2B5EF4-FFF2-40B4-BE49-F238E27FC236}">
                <a16:creationId xmlns:a16="http://schemas.microsoft.com/office/drawing/2014/main" id="{7A49D196-B8EE-414E-ABAF-677F6FDE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981700"/>
            <a:ext cx="5886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4044"/>
                </a:solidFill>
              </a:defRPr>
            </a:pPr>
            <a:r>
              <a:rPr sz="1425" b="1">
                <a:solidFill>
                  <a:srgbClr val="264044"/>
                </a:solidFill>
              </a:rPr>
              <a:t>Service layer resolves knowledge-base facts and computes local rankings.</a:t>
            </a:r>
          </a:p>
        </p:txBody>
      </p:sp>
      <p:sp>
        <p:nvSpPr>
          <p:cNvPr id="15" name="stage-3. Augment">
            <a:extLst xmlns:a="http://schemas.openxmlformats.org/drawingml/2006/main">
              <a:ext uri="{FF2B5EF4-FFF2-40B4-BE49-F238E27FC236}">
                <a16:creationId xmlns:a16="http://schemas.microsoft.com/office/drawing/2014/main" id="{8B87DAF8-2AD8-44E4-BE6C-B51EF2C3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688455"/>
            <a:ext cx="634746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D8"/>
            </a:solidFill>
            <a:prstDash val="solid"/>
          </a:ln>
        </p:spPr>
      </p:sp>
      <p:sp>
        <p:nvSpPr>
          <p:cNvPr id="16" name="stage-chip-3. Augment">
            <a:extLst xmlns:a="http://schemas.openxmlformats.org/drawingml/2006/main">
              <a:ext uri="{FF2B5EF4-FFF2-40B4-BE49-F238E27FC236}">
                <a16:creationId xmlns:a16="http://schemas.microsoft.com/office/drawing/2014/main" id="{65865ADC-8089-47A1-BAAF-6FB5C7CF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991350"/>
            <a:ext cx="16192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5BD0"/>
          </a:solidFill>
        </p:spPr>
      </p:sp>
      <p:sp>
        <p:nvSpPr>
          <p:cNvPr id="17" name="stage-chip-3. Augment-text">
            <a:extLst xmlns:a="http://schemas.openxmlformats.org/drawingml/2006/main">
              <a:ext uri="{FF2B5EF4-FFF2-40B4-BE49-F238E27FC236}">
                <a16:creationId xmlns:a16="http://schemas.microsoft.com/office/drawing/2014/main" id="{E5D5EC84-1E0B-4DCE-8ED0-9DEB40E1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7086600"/>
            <a:ext cx="129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3. Augment</a:t>
            </a:r>
          </a:p>
        </p:txBody>
      </p:sp>
      <p:sp>
        <p:nvSpPr>
          <p:cNvPr id="18" name="stage-sub-3. Augment">
            <a:extLst xmlns:a="http://schemas.openxmlformats.org/drawingml/2006/main">
              <a:ext uri="{FF2B5EF4-FFF2-40B4-BE49-F238E27FC236}">
                <a16:creationId xmlns:a16="http://schemas.microsoft.com/office/drawing/2014/main" id="{46AAA2D2-43A2-4278-8428-C4E4DB78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7467600"/>
            <a:ext cx="5886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4044"/>
                </a:solidFill>
              </a:defRPr>
            </a:pPr>
            <a:r>
              <a:rPr sz="1425" b="1">
                <a:solidFill>
                  <a:srgbClr val="264044"/>
                </a:solidFill>
              </a:rPr>
              <a:t>OpenAI adds interpretation when configured; fallback remains explicit.</a:t>
            </a:r>
          </a:p>
        </p:txBody>
      </p:sp>
      <p:sp>
        <p:nvSpPr>
          <p:cNvPr id="19" name="stage-4. Record">
            <a:extLst xmlns:a="http://schemas.openxmlformats.org/drawingml/2006/main">
              <a:ext uri="{FF2B5EF4-FFF2-40B4-BE49-F238E27FC236}">
                <a16:creationId xmlns:a16="http://schemas.microsoft.com/office/drawing/2014/main" id="{4AA0FF1B-FF79-41EC-8755-C6309757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8174355"/>
            <a:ext cx="634746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D8"/>
            </a:solidFill>
            <a:prstDash val="solid"/>
          </a:ln>
        </p:spPr>
      </p:sp>
      <p:sp>
        <p:nvSpPr>
          <p:cNvPr id="20" name="stage-chip-4. Record">
            <a:extLst xmlns:a="http://schemas.openxmlformats.org/drawingml/2006/main">
              <a:ext uri="{FF2B5EF4-FFF2-40B4-BE49-F238E27FC236}">
                <a16:creationId xmlns:a16="http://schemas.microsoft.com/office/drawing/2014/main" id="{44209B7C-0535-408C-A93A-BDC43648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8477250"/>
            <a:ext cx="16192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A83A"/>
          </a:solidFill>
        </p:spPr>
      </p:sp>
      <p:sp>
        <p:nvSpPr>
          <p:cNvPr id="21" name="stage-chip-4. Record-text">
            <a:extLst xmlns:a="http://schemas.openxmlformats.org/drawingml/2006/main">
              <a:ext uri="{FF2B5EF4-FFF2-40B4-BE49-F238E27FC236}">
                <a16:creationId xmlns:a16="http://schemas.microsoft.com/office/drawing/2014/main" id="{3A3D006F-7CD9-46C7-9EF7-8F64AC22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8572500"/>
            <a:ext cx="129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4. Record</a:t>
            </a:r>
          </a:p>
        </p:txBody>
      </p:sp>
      <p:sp>
        <p:nvSpPr>
          <p:cNvPr id="22" name="stage-sub-4. Record">
            <a:extLst xmlns:a="http://schemas.openxmlformats.org/drawingml/2006/main">
              <a:ext uri="{FF2B5EF4-FFF2-40B4-BE49-F238E27FC236}">
                <a16:creationId xmlns:a16="http://schemas.microsoft.com/office/drawing/2014/main" id="{1649E34C-F7A1-434A-86E7-2A87BFCD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8953500"/>
            <a:ext cx="5886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4044"/>
                </a:solidFill>
              </a:defRPr>
            </a:pPr>
            <a:r>
              <a:rPr sz="1425" b="1">
                <a:solidFill>
                  <a:srgbClr val="264044"/>
                </a:solidFill>
              </a:rPr>
              <a:t>Feedback logs keep experiment outcomes tied to the workflow.</a:t>
            </a:r>
          </a:p>
        </p:txBody>
      </p:sp>
    </p:spTree>
    <p:extLst>
      <p:ext uri="{BB962C8B-B14F-4D97-AF65-F5344CB8AC3E}">
        <p14:creationId xmlns:p14="http://schemas.microsoft.com/office/powerpoint/2010/main" val="13228906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F019E3D-178C-4921-8053-1CB14D88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40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E8A"/>
                </a:solidFill>
              </a:defRPr>
            </a:pPr>
            <a:r>
              <a:rPr sz="1350" b="1">
                <a:solidFill>
                  <a:srgbClr val="168E8A"/>
                </a:solidFill>
              </a:rPr>
              <a:t>03 /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22AA2F-79C9-485E-B8F2-E4DF7C5E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09650"/>
            <a:ext cx="112014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B1E"/>
                </a:solidFill>
              </a:defRPr>
            </a:pPr>
            <a:r>
              <a:rPr sz="4350" b="1">
                <a:solidFill>
                  <a:srgbClr val="0D1B1E"/>
                </a:solidFill>
              </a:rPr>
              <a:t>The architecture separates product runtime from distributed-agent experiments.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3B80C11-EBE9-48D3-9E09-8CAE1B78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9372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D7376"/>
                </a:solidFill>
              </a:defRPr>
            </a:pPr>
            <a:r>
              <a:rPr sz="1875" b="0">
                <a:solidFill>
                  <a:srgbClr val="5D7376"/>
                </a:solidFill>
              </a:rPr>
              <a:t>The dashboard can run immediately, while uAgents remain available for networked deployments.</a:t>
            </a:r>
          </a:p>
        </p:txBody>
      </p:sp>
      <p:sp>
        <p:nvSpPr>
          <p:cNvPr id="4" name="stage-React frontend">
            <a:extLst xmlns:a="http://schemas.openxmlformats.org/drawingml/2006/main">
              <a:ext uri="{FF2B5EF4-FFF2-40B4-BE49-F238E27FC236}">
                <a16:creationId xmlns:a16="http://schemas.microsoft.com/office/drawing/2014/main" id="{4CD100DA-DCE3-4F66-8F2C-ACD447F1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5760"/>
            <a:ext cx="535940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D8"/>
            </a:solidFill>
            <a:prstDash val="solid"/>
          </a:ln>
        </p:spPr>
      </p:sp>
      <p:sp>
        <p:nvSpPr>
          <p:cNvPr id="5" name="stage-chip-React frontend">
            <a:extLst xmlns:a="http://schemas.openxmlformats.org/drawingml/2006/main">
              <a:ext uri="{FF2B5EF4-FFF2-40B4-BE49-F238E27FC236}">
                <a16:creationId xmlns:a16="http://schemas.microsoft.com/office/drawing/2014/main" id="{381B52C3-E936-4732-A286-F299779F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78655"/>
            <a:ext cx="16192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75D8"/>
          </a:solidFill>
        </p:spPr>
      </p:sp>
      <p:sp>
        <p:nvSpPr>
          <p:cNvPr id="6" name="stage-chip-React frontend-text">
            <a:extLst xmlns:a="http://schemas.openxmlformats.org/drawingml/2006/main">
              <a:ext uri="{FF2B5EF4-FFF2-40B4-BE49-F238E27FC236}">
                <a16:creationId xmlns:a16="http://schemas.microsoft.com/office/drawing/2014/main" id="{BEFA83AC-2FA1-4A49-8ECB-828EC7D1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72000"/>
            <a:ext cx="129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React frontend</a:t>
            </a:r>
          </a:p>
        </p:txBody>
      </p:sp>
      <p:sp>
        <p:nvSpPr>
          <p:cNvPr id="7" name="stage-sub-React frontend">
            <a:extLst xmlns:a="http://schemas.openxmlformats.org/drawingml/2006/main">
              <a:ext uri="{FF2B5EF4-FFF2-40B4-BE49-F238E27FC236}">
                <a16:creationId xmlns:a16="http://schemas.microsoft.com/office/drawing/2014/main" id="{1EBF8E5A-3EA6-4564-9972-AF6094F1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489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4044"/>
                </a:solidFill>
              </a:defRPr>
            </a:pPr>
            <a:r>
              <a:rPr sz="1425" b="1">
                <a:solidFill>
                  <a:srgbClr val="264044"/>
                </a:solidFill>
              </a:rPr>
              <a:t>Dashboard, graph view, forms, result panels</a:t>
            </a:r>
          </a:p>
        </p:txBody>
      </p:sp>
      <p:sp>
        <p:nvSpPr>
          <p:cNvPr id="8" name="stage-Flask API">
            <a:extLst xmlns:a="http://schemas.openxmlformats.org/drawingml/2006/main">
              <a:ext uri="{FF2B5EF4-FFF2-40B4-BE49-F238E27FC236}">
                <a16:creationId xmlns:a16="http://schemas.microsoft.com/office/drawing/2014/main" id="{92F016AE-CF48-4F7B-B46C-4F6ECDE3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4175760"/>
            <a:ext cx="535940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D8"/>
            </a:solidFill>
            <a:prstDash val="solid"/>
          </a:ln>
        </p:spPr>
      </p:sp>
      <p:sp>
        <p:nvSpPr>
          <p:cNvPr id="9" name="stage-chip-Flask API">
            <a:extLst xmlns:a="http://schemas.openxmlformats.org/drawingml/2006/main">
              <a:ext uri="{FF2B5EF4-FFF2-40B4-BE49-F238E27FC236}">
                <a16:creationId xmlns:a16="http://schemas.microsoft.com/office/drawing/2014/main" id="{E7A339D9-3357-4F64-9C26-DB6FCF07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4478655"/>
            <a:ext cx="16192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E8A"/>
          </a:solidFill>
        </p:spPr>
      </p:sp>
      <p:sp>
        <p:nvSpPr>
          <p:cNvPr id="10" name="stage-chip-Flask API-text">
            <a:extLst xmlns:a="http://schemas.openxmlformats.org/drawingml/2006/main">
              <a:ext uri="{FF2B5EF4-FFF2-40B4-BE49-F238E27FC236}">
                <a16:creationId xmlns:a16="http://schemas.microsoft.com/office/drawing/2014/main" id="{F1AF7FE9-21E8-4394-A881-3F322831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72000"/>
            <a:ext cx="129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Flask API</a:t>
            </a:r>
          </a:p>
        </p:txBody>
      </p:sp>
      <p:sp>
        <p:nvSpPr>
          <p:cNvPr id="11" name="stage-sub-Flask API">
            <a:extLst xmlns:a="http://schemas.openxmlformats.org/drawingml/2006/main">
              <a:ext uri="{FF2B5EF4-FFF2-40B4-BE49-F238E27FC236}">
                <a16:creationId xmlns:a16="http://schemas.microsoft.com/office/drawing/2014/main" id="{813A155F-78EA-4FC6-B529-5BCBF805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53000"/>
            <a:ext cx="489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4044"/>
                </a:solidFill>
              </a:defRPr>
            </a:pPr>
            <a:r>
              <a:rPr sz="1425" b="1">
                <a:solidFill>
                  <a:srgbClr val="264044"/>
                </a:solidFill>
              </a:rPr>
              <a:t>HTTP validation, JSON responses, tracing headers</a:t>
            </a:r>
          </a:p>
        </p:txBody>
      </p:sp>
      <p:sp>
        <p:nvSpPr>
          <p:cNvPr id="12" name="stage-Services">
            <a:extLst xmlns:a="http://schemas.openxmlformats.org/drawingml/2006/main">
              <a:ext uri="{FF2B5EF4-FFF2-40B4-BE49-F238E27FC236}">
                <a16:creationId xmlns:a16="http://schemas.microsoft.com/office/drawing/2014/main" id="{3A46977D-F4CC-4885-AE47-4847C76A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4175760"/>
            <a:ext cx="535940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D8"/>
            </a:solidFill>
            <a:prstDash val="solid"/>
          </a:ln>
        </p:spPr>
      </p:sp>
      <p:sp>
        <p:nvSpPr>
          <p:cNvPr id="13" name="stage-chip-Services">
            <a:extLst xmlns:a="http://schemas.openxmlformats.org/drawingml/2006/main">
              <a:ext uri="{FF2B5EF4-FFF2-40B4-BE49-F238E27FC236}">
                <a16:creationId xmlns:a16="http://schemas.microsoft.com/office/drawing/2014/main" id="{9AC64B9B-E87D-47DC-AFFB-924C4ADC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0900" y="4478655"/>
            <a:ext cx="16192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BC7A5"/>
          </a:solidFill>
        </p:spPr>
      </p:sp>
      <p:sp>
        <p:nvSpPr>
          <p:cNvPr id="14" name="stage-chip-Services-text">
            <a:extLst xmlns:a="http://schemas.openxmlformats.org/drawingml/2006/main">
              <a:ext uri="{FF2B5EF4-FFF2-40B4-BE49-F238E27FC236}">
                <a16:creationId xmlns:a16="http://schemas.microsoft.com/office/drawing/2014/main" id="{B8DD12DA-9D64-4F3E-961B-FF2384E8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4572000"/>
            <a:ext cx="129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Services</a:t>
            </a:r>
          </a:p>
        </p:txBody>
      </p:sp>
      <p:sp>
        <p:nvSpPr>
          <p:cNvPr id="15" name="stage-sub-Services">
            <a:extLst xmlns:a="http://schemas.openxmlformats.org/drawingml/2006/main">
              <a:ext uri="{FF2B5EF4-FFF2-40B4-BE49-F238E27FC236}">
                <a16:creationId xmlns:a16="http://schemas.microsoft.com/office/drawing/2014/main" id="{26164CDA-3E27-43E2-93D1-72BA634D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953000"/>
            <a:ext cx="489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4044"/>
                </a:solidFill>
              </a:defRPr>
            </a:pPr>
            <a:r>
              <a:rPr sz="1425" b="1">
                <a:solidFill>
                  <a:srgbClr val="264044"/>
                </a:solidFill>
              </a:rPr>
              <a:t>Compound, reaction, research, analysis, DB, LLM, feedback</a:t>
            </a:r>
          </a:p>
        </p:txBody>
      </p:sp>
      <p:sp>
        <p:nvSpPr>
          <p:cNvPr id="16" name="stage-MeTTa KB">
            <a:extLst xmlns:a="http://schemas.openxmlformats.org/drawingml/2006/main">
              <a:ext uri="{FF2B5EF4-FFF2-40B4-BE49-F238E27FC236}">
                <a16:creationId xmlns:a16="http://schemas.microsoft.com/office/drawing/2014/main" id="{1A58C907-7662-4C2A-BC83-D1C52613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8810"/>
            <a:ext cx="535940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D8"/>
            </a:solidFill>
            <a:prstDash val="solid"/>
          </a:ln>
        </p:spPr>
      </p:sp>
      <p:sp>
        <p:nvSpPr>
          <p:cNvPr id="17" name="stage-chip-MeTTa KB">
            <a:extLst xmlns:a="http://schemas.openxmlformats.org/drawingml/2006/main">
              <a:ext uri="{FF2B5EF4-FFF2-40B4-BE49-F238E27FC236}">
                <a16:creationId xmlns:a16="http://schemas.microsoft.com/office/drawing/2014/main" id="{718262EA-D750-4CD5-9CDF-AE2B257B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021705"/>
            <a:ext cx="16192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A83A"/>
          </a:solidFill>
        </p:spPr>
      </p:sp>
      <p:sp>
        <p:nvSpPr>
          <p:cNvPr id="18" name="stage-chip-MeTTa KB-text">
            <a:extLst xmlns:a="http://schemas.openxmlformats.org/drawingml/2006/main">
              <a:ext uri="{FF2B5EF4-FFF2-40B4-BE49-F238E27FC236}">
                <a16:creationId xmlns:a16="http://schemas.microsoft.com/office/drawing/2014/main" id="{584C73BD-9560-4FDC-B6BD-A4B695C6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115050"/>
            <a:ext cx="129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MeTTa KB</a:t>
            </a:r>
          </a:p>
        </p:txBody>
      </p:sp>
      <p:sp>
        <p:nvSpPr>
          <p:cNvPr id="19" name="stage-sub-MeTTa KB">
            <a:extLst xmlns:a="http://schemas.openxmlformats.org/drawingml/2006/main">
              <a:ext uri="{FF2B5EF4-FFF2-40B4-BE49-F238E27FC236}">
                <a16:creationId xmlns:a16="http://schemas.microsoft.com/office/drawing/2014/main" id="{EE66E407-2FCB-48A4-88C1-4714AFE2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96050"/>
            <a:ext cx="489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4044"/>
                </a:solidFill>
              </a:defRPr>
            </a:pPr>
            <a:r>
              <a:rPr sz="1425" b="1">
                <a:solidFill>
                  <a:srgbClr val="264044"/>
                </a:solidFill>
              </a:rPr>
              <a:t>Catalyst/enzyme facts, similarity, interactions</a:t>
            </a:r>
          </a:p>
        </p:txBody>
      </p:sp>
      <p:sp>
        <p:nvSpPr>
          <p:cNvPr id="20" name="stage-OpenAI API">
            <a:extLst xmlns:a="http://schemas.openxmlformats.org/drawingml/2006/main">
              <a:ext uri="{FF2B5EF4-FFF2-40B4-BE49-F238E27FC236}">
                <a16:creationId xmlns:a16="http://schemas.microsoft.com/office/drawing/2014/main" id="{DB4CC599-8B40-41D6-B289-4AC4CB3E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5718810"/>
            <a:ext cx="535940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D8"/>
            </a:solidFill>
            <a:prstDash val="solid"/>
          </a:ln>
        </p:spPr>
      </p:sp>
      <p:sp>
        <p:nvSpPr>
          <p:cNvPr id="21" name="stage-chip-OpenAI API">
            <a:extLst xmlns:a="http://schemas.openxmlformats.org/drawingml/2006/main">
              <a:ext uri="{FF2B5EF4-FFF2-40B4-BE49-F238E27FC236}">
                <a16:creationId xmlns:a16="http://schemas.microsoft.com/office/drawing/2014/main" id="{6610E065-927B-4031-AF07-F53AA37C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6021705"/>
            <a:ext cx="16192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5BD0"/>
          </a:solidFill>
        </p:spPr>
      </p:sp>
      <p:sp>
        <p:nvSpPr>
          <p:cNvPr id="22" name="stage-chip-OpenAI API-text">
            <a:extLst xmlns:a="http://schemas.openxmlformats.org/drawingml/2006/main">
              <a:ext uri="{FF2B5EF4-FFF2-40B4-BE49-F238E27FC236}">
                <a16:creationId xmlns:a16="http://schemas.microsoft.com/office/drawing/2014/main" id="{EF90C388-9B75-45FB-96A9-AC53F9A7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115050"/>
            <a:ext cx="129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OpenAI API</a:t>
            </a:r>
          </a:p>
        </p:txBody>
      </p:sp>
      <p:sp>
        <p:nvSpPr>
          <p:cNvPr id="23" name="stage-sub-OpenAI API">
            <a:extLst xmlns:a="http://schemas.openxmlformats.org/drawingml/2006/main">
              <a:ext uri="{FF2B5EF4-FFF2-40B4-BE49-F238E27FC236}">
                <a16:creationId xmlns:a16="http://schemas.microsoft.com/office/drawing/2014/main" id="{F2E81F42-FD91-4760-96D8-92890B05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496050"/>
            <a:ext cx="489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4044"/>
                </a:solidFill>
              </a:defRPr>
            </a:pPr>
            <a:r>
              <a:rPr sz="1425" b="1">
                <a:solidFill>
                  <a:srgbClr val="264044"/>
                </a:solidFill>
              </a:rPr>
              <a:t>Primary narrative analysis and candidate generation</a:t>
            </a:r>
          </a:p>
        </p:txBody>
      </p:sp>
      <p:sp>
        <p:nvSpPr>
          <p:cNvPr id="24" name="stage-Local fallback">
            <a:extLst xmlns:a="http://schemas.openxmlformats.org/drawingml/2006/main">
              <a:ext uri="{FF2B5EF4-FFF2-40B4-BE49-F238E27FC236}">
                <a16:creationId xmlns:a16="http://schemas.microsoft.com/office/drawing/2014/main" id="{D998CF69-5C37-48B6-A5DC-9A925928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5718810"/>
            <a:ext cx="535940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D8"/>
            </a:solidFill>
            <a:prstDash val="solid"/>
          </a:ln>
        </p:spPr>
      </p:sp>
      <p:sp>
        <p:nvSpPr>
          <p:cNvPr id="25" name="stage-chip-Local fallback">
            <a:extLst xmlns:a="http://schemas.openxmlformats.org/drawingml/2006/main">
              <a:ext uri="{FF2B5EF4-FFF2-40B4-BE49-F238E27FC236}">
                <a16:creationId xmlns:a16="http://schemas.microsoft.com/office/drawing/2014/main" id="{06FED650-95D0-4ED2-899F-4FE9F9EB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0900" y="6021705"/>
            <a:ext cx="16192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5B4D"/>
          </a:solidFill>
        </p:spPr>
      </p:sp>
      <p:sp>
        <p:nvSpPr>
          <p:cNvPr id="26" name="stage-chip-Local fallback-text">
            <a:extLst xmlns:a="http://schemas.openxmlformats.org/drawingml/2006/main">
              <a:ext uri="{FF2B5EF4-FFF2-40B4-BE49-F238E27FC236}">
                <a16:creationId xmlns:a16="http://schemas.microsoft.com/office/drawing/2014/main" id="{B8220981-7629-41AA-8D7D-5337D8B2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6115050"/>
            <a:ext cx="129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Local fallback</a:t>
            </a:r>
          </a:p>
        </p:txBody>
      </p:sp>
      <p:sp>
        <p:nvSpPr>
          <p:cNvPr id="27" name="stage-sub-Local fallback">
            <a:extLst xmlns:a="http://schemas.openxmlformats.org/drawingml/2006/main">
              <a:ext uri="{FF2B5EF4-FFF2-40B4-BE49-F238E27FC236}">
                <a16:creationId xmlns:a16="http://schemas.microsoft.com/office/drawing/2014/main" id="{6A718E87-2C28-404C-BFF7-E0D101CC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496050"/>
            <a:ext cx="489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4044"/>
                </a:solidFill>
              </a:defRPr>
            </a:pPr>
            <a:r>
              <a:rPr sz="1425" b="1">
                <a:solidFill>
                  <a:srgbClr val="264044"/>
                </a:solidFill>
              </a:rPr>
              <a:t>Deterministic rankings and explainable generated variants</a:t>
            </a:r>
          </a:p>
        </p:txBody>
      </p:sp>
      <p:sp>
        <p:nvSpPr>
          <p:cNvPr id="28" name="optional-runtime-band">
            <a:extLst xmlns:a="http://schemas.openxmlformats.org/drawingml/2006/main">
              <a:ext uri="{FF2B5EF4-FFF2-40B4-BE49-F238E27FC236}">
                <a16:creationId xmlns:a16="http://schemas.microsoft.com/office/drawing/2014/main" id="{51150EE5-8400-4065-B184-C00B89D2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61860"/>
            <a:ext cx="1653540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EC"/>
          </a:solidFill>
          <a:ln xmlns:a="http://schemas.openxmlformats.org/drawingml/2006/main" w="9525">
            <a:solidFill>
              <a:srgbClr val="C8D8CE"/>
            </a:solidFill>
            <a:prstDash val="solid"/>
          </a:ln>
        </p:spPr>
      </p:sp>
      <p:sp>
        <p:nvSpPr>
          <p:cNvPr id="29" name="optional-chip">
            <a:extLst xmlns:a="http://schemas.openxmlformats.org/drawingml/2006/main">
              <a:ext uri="{FF2B5EF4-FFF2-40B4-BE49-F238E27FC236}">
                <a16:creationId xmlns:a16="http://schemas.microsoft.com/office/drawing/2014/main" id="{CF7608D5-BC53-4E96-8C27-C92758C6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696200"/>
            <a:ext cx="16192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514"/>
          </a:solidFill>
        </p:spPr>
      </p:sp>
      <p:sp>
        <p:nvSpPr>
          <p:cNvPr id="30" name="optional-chip-text">
            <a:extLst xmlns:a="http://schemas.openxmlformats.org/drawingml/2006/main">
              <a:ext uri="{FF2B5EF4-FFF2-40B4-BE49-F238E27FC236}">
                <a16:creationId xmlns:a16="http://schemas.microsoft.com/office/drawing/2014/main" id="{B614651D-6959-4EFF-81D3-A15D8035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791450"/>
            <a:ext cx="129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optional</a:t>
            </a:r>
          </a:p>
        </p:txBody>
      </p:sp>
      <p:sp>
        <p:nvSpPr>
          <p:cNvPr id="31" name="optional-copy">
            <a:extLst xmlns:a="http://schemas.openxmlformats.org/drawingml/2006/main">
              <a:ext uri="{FF2B5EF4-FFF2-40B4-BE49-F238E27FC236}">
                <a16:creationId xmlns:a16="http://schemas.microsoft.com/office/drawing/2014/main" id="{1F8B3954-E24A-4461-BEE8-AFA23CAB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7734300"/>
            <a:ext cx="13982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64044"/>
                </a:solidFill>
              </a:defRPr>
            </a:pPr>
            <a:r>
              <a:rPr sz="2025" b="1">
                <a:solidFill>
                  <a:srgbClr val="264044"/>
                </a:solidFill>
              </a:rPr>
              <a:t>uAgents Bureau can run the same service logic as standalone distributed agents, but it is not required for the default app.</a:t>
            </a:r>
          </a:p>
        </p:txBody>
      </p:sp>
    </p:spTree>
    <p:extLst>
      <p:ext uri="{BB962C8B-B14F-4D97-AF65-F5344CB8AC3E}">
        <p14:creationId xmlns:p14="http://schemas.microsoft.com/office/powerpoint/2010/main" val="3356701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45F6AC3-2F95-4CC5-A8CF-434DE4DB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25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E8A"/>
                </a:solidFill>
              </a:defRPr>
            </a:pPr>
            <a:r>
              <a:rPr sz="1350" b="1">
                <a:solidFill>
                  <a:srgbClr val="168E8A"/>
                </a:solidFill>
              </a:rPr>
              <a:t>04 / CAPABILITIES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CF609C-32F8-40AA-92DD-BA25B9AF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09650"/>
            <a:ext cx="132016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B1E"/>
                </a:solidFill>
              </a:defRPr>
            </a:pPr>
            <a:r>
              <a:rPr sz="4350" b="1">
                <a:solidFill>
                  <a:srgbClr val="0D1B1E"/>
                </a:solidFill>
              </a:rPr>
              <a:t>The platform covers the core loop from profile to decision to feedback.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9D5A24B-2918-4230-B8A4-939545B1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7372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D7376"/>
                </a:solidFill>
              </a:defRPr>
            </a:pPr>
            <a:r>
              <a:rPr sz="1875" b="0">
                <a:solidFill>
                  <a:srgbClr val="5D7376"/>
                </a:solidFill>
              </a:rPr>
              <a:t>Each capability maps to one service, one API route, and a visible UI behavior.</a:t>
            </a:r>
          </a:p>
        </p:txBody>
      </p:sp>
      <p:sp>
        <p:nvSpPr>
          <p:cNvPr id="4" name="node-Compound profiling">
            <a:extLst xmlns:a="http://schemas.openxmlformats.org/drawingml/2006/main">
              <a:ext uri="{FF2B5EF4-FFF2-40B4-BE49-F238E27FC236}">
                <a16:creationId xmlns:a16="http://schemas.microsoft.com/office/drawing/2014/main" id="{A49E91D2-AC81-4EA0-989A-702272B4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60420"/>
            <a:ext cx="53340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8E8A"/>
            </a:solidFill>
            <a:prstDash val="solid"/>
          </a:ln>
        </p:spPr>
      </p:sp>
      <p:sp>
        <p:nvSpPr>
          <p:cNvPr id="5" name="node-title-Compound profiling">
            <a:extLst xmlns:a="http://schemas.openxmlformats.org/drawingml/2006/main">
              <a:ext uri="{FF2B5EF4-FFF2-40B4-BE49-F238E27FC236}">
                <a16:creationId xmlns:a16="http://schemas.microsoft.com/office/drawing/2014/main" id="{640A0F88-A1AC-4951-B659-59002566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491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1B1E"/>
                </a:solidFill>
              </a:defRPr>
            </a:pPr>
            <a:r>
              <a:rPr sz="1725" b="1">
                <a:solidFill>
                  <a:srgbClr val="0D1B1E"/>
                </a:solidFill>
              </a:rPr>
              <a:t>Compound profiling</a:t>
            </a:r>
          </a:p>
        </p:txBody>
      </p:sp>
      <p:sp>
        <p:nvSpPr>
          <p:cNvPr id="6" name="node-sub-Compound profiling">
            <a:extLst xmlns:a="http://schemas.openxmlformats.org/drawingml/2006/main">
              <a:ext uri="{FF2B5EF4-FFF2-40B4-BE49-F238E27FC236}">
                <a16:creationId xmlns:a16="http://schemas.microsoft.com/office/drawing/2014/main" id="{F13DDE05-CE5D-46EF-8649-9F23339D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48100"/>
            <a:ext cx="491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7376"/>
                </a:solidFill>
              </a:defRPr>
            </a:pPr>
            <a:r>
              <a:rPr sz="1275" b="0">
                <a:solidFill>
                  <a:srgbClr val="5D7376"/>
                </a:solidFill>
              </a:rPr>
              <a:t>Properties, categories, targets, similar compounds</a:t>
            </a:r>
          </a:p>
        </p:txBody>
      </p:sp>
      <p:sp>
        <p:nvSpPr>
          <p:cNvPr id="7" name="node-Interaction analysis">
            <a:extLst xmlns:a="http://schemas.openxmlformats.org/drawingml/2006/main">
              <a:ext uri="{FF2B5EF4-FFF2-40B4-BE49-F238E27FC236}">
                <a16:creationId xmlns:a16="http://schemas.microsoft.com/office/drawing/2014/main" id="{89CE60E7-D8D0-4336-9D47-A7646596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60420"/>
            <a:ext cx="53340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F5B4D"/>
            </a:solidFill>
            <a:prstDash val="solid"/>
          </a:ln>
        </p:spPr>
      </p:sp>
      <p:sp>
        <p:nvSpPr>
          <p:cNvPr id="8" name="node-title-Interaction analysis">
            <a:extLst xmlns:a="http://schemas.openxmlformats.org/drawingml/2006/main">
              <a:ext uri="{FF2B5EF4-FFF2-40B4-BE49-F238E27FC236}">
                <a16:creationId xmlns:a16="http://schemas.microsoft.com/office/drawing/2014/main" id="{2AC79822-272E-4123-BCED-8567E9F3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24250"/>
            <a:ext cx="491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1B1E"/>
                </a:solidFill>
              </a:defRPr>
            </a:pPr>
            <a:r>
              <a:rPr sz="1725" b="1">
                <a:solidFill>
                  <a:srgbClr val="0D1B1E"/>
                </a:solidFill>
              </a:rPr>
              <a:t>Interaction analysis</a:t>
            </a:r>
          </a:p>
        </p:txBody>
      </p:sp>
      <p:sp>
        <p:nvSpPr>
          <p:cNvPr id="9" name="node-sub-Interaction analysis">
            <a:extLst xmlns:a="http://schemas.openxmlformats.org/drawingml/2006/main">
              <a:ext uri="{FF2B5EF4-FFF2-40B4-BE49-F238E27FC236}">
                <a16:creationId xmlns:a16="http://schemas.microsoft.com/office/drawing/2014/main" id="{724C5E12-15C5-4EBA-983F-78039AC4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48100"/>
            <a:ext cx="491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7376"/>
                </a:solidFill>
              </a:defRPr>
            </a:pPr>
            <a:r>
              <a:rPr sz="1275" b="0">
                <a:solidFill>
                  <a:srgbClr val="5D7376"/>
                </a:solidFill>
              </a:rPr>
              <a:t>Shared targets, explicit risks, warnings</a:t>
            </a:r>
          </a:p>
        </p:txBody>
      </p:sp>
      <p:sp>
        <p:nvSpPr>
          <p:cNvPr id="10" name="node-Candidate discovery">
            <a:extLst xmlns:a="http://schemas.openxmlformats.org/drawingml/2006/main">
              <a:ext uri="{FF2B5EF4-FFF2-40B4-BE49-F238E27FC236}">
                <a16:creationId xmlns:a16="http://schemas.microsoft.com/office/drawing/2014/main" id="{47E8F1E9-3090-40B3-9216-50CD16F6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3360420"/>
            <a:ext cx="53340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275D8"/>
            </a:solidFill>
            <a:prstDash val="solid"/>
          </a:ln>
        </p:spPr>
      </p:sp>
      <p:sp>
        <p:nvSpPr>
          <p:cNvPr id="11" name="node-title-Candidate discovery">
            <a:extLst xmlns:a="http://schemas.openxmlformats.org/drawingml/2006/main">
              <a:ext uri="{FF2B5EF4-FFF2-40B4-BE49-F238E27FC236}">
                <a16:creationId xmlns:a16="http://schemas.microsoft.com/office/drawing/2014/main" id="{8D2C1D24-0896-4206-A9D5-9483E560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524250"/>
            <a:ext cx="491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1B1E"/>
                </a:solidFill>
              </a:defRPr>
            </a:pPr>
            <a:r>
              <a:rPr sz="1725" b="1">
                <a:solidFill>
                  <a:srgbClr val="0D1B1E"/>
                </a:solidFill>
              </a:rPr>
              <a:t>Candidate discovery</a:t>
            </a:r>
          </a:p>
        </p:txBody>
      </p:sp>
      <p:sp>
        <p:nvSpPr>
          <p:cNvPr id="12" name="node-sub-Candidate discovery">
            <a:extLst xmlns:a="http://schemas.openxmlformats.org/drawingml/2006/main">
              <a:ext uri="{FF2B5EF4-FFF2-40B4-BE49-F238E27FC236}">
                <a16:creationId xmlns:a16="http://schemas.microsoft.com/office/drawing/2014/main" id="{3FA5DD9F-AA41-4A90-9F40-939C23DE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848100"/>
            <a:ext cx="491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7376"/>
                </a:solidFill>
              </a:defRPr>
            </a:pPr>
            <a:r>
              <a:rPr sz="1275" b="0">
                <a:solidFill>
                  <a:srgbClr val="5D7376"/>
                </a:solidFill>
              </a:rPr>
              <a:t>Target class, similarity, activity, selectivity filters</a:t>
            </a:r>
          </a:p>
        </p:txBody>
      </p:sp>
      <p:sp>
        <p:nvSpPr>
          <p:cNvPr id="13" name="node-Ranking">
            <a:extLst xmlns:a="http://schemas.openxmlformats.org/drawingml/2006/main">
              <a:ext uri="{FF2B5EF4-FFF2-40B4-BE49-F238E27FC236}">
                <a16:creationId xmlns:a16="http://schemas.microsoft.com/office/drawing/2014/main" id="{FF6BBB7E-59E1-4B3F-8B8C-7620052D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23685"/>
            <a:ext cx="53340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4A83A"/>
            </a:solidFill>
            <a:prstDash val="solid"/>
          </a:ln>
        </p:spPr>
      </p:sp>
      <p:sp>
        <p:nvSpPr>
          <p:cNvPr id="14" name="node-title-Ranking">
            <a:extLst xmlns:a="http://schemas.openxmlformats.org/drawingml/2006/main">
              <a:ext uri="{FF2B5EF4-FFF2-40B4-BE49-F238E27FC236}">
                <a16:creationId xmlns:a16="http://schemas.microsoft.com/office/drawing/2014/main" id="{98DD0B4B-3E69-42D6-B40D-A364B9E2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800850"/>
            <a:ext cx="491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1B1E"/>
                </a:solidFill>
              </a:defRPr>
            </a:pPr>
            <a:r>
              <a:rPr sz="1725" b="1">
                <a:solidFill>
                  <a:srgbClr val="0D1B1E"/>
                </a:solidFill>
              </a:rPr>
              <a:t>Ranking</a:t>
            </a:r>
          </a:p>
        </p:txBody>
      </p:sp>
      <p:sp>
        <p:nvSpPr>
          <p:cNvPr id="15" name="node-sub-Ranking">
            <a:extLst xmlns:a="http://schemas.openxmlformats.org/drawingml/2006/main">
              <a:ext uri="{FF2B5EF4-FFF2-40B4-BE49-F238E27FC236}">
                <a16:creationId xmlns:a16="http://schemas.microsoft.com/office/drawing/2014/main" id="{961B6195-9AAA-4A9D-87D1-11B5BC7C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124700"/>
            <a:ext cx="491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7376"/>
                </a:solidFill>
              </a:defRPr>
            </a:pPr>
            <a:r>
              <a:rPr sz="1275" b="0">
                <a:solidFill>
                  <a:srgbClr val="5D7376"/>
                </a:solidFill>
              </a:rPr>
              <a:t>Activity, selectivity, stability, molecular weight</a:t>
            </a:r>
          </a:p>
        </p:txBody>
      </p:sp>
      <p:sp>
        <p:nvSpPr>
          <p:cNvPr id="16" name="node-External lookup">
            <a:extLst xmlns:a="http://schemas.openxmlformats.org/drawingml/2006/main">
              <a:ext uri="{FF2B5EF4-FFF2-40B4-BE49-F238E27FC236}">
                <a16:creationId xmlns:a16="http://schemas.microsoft.com/office/drawing/2014/main" id="{1A0C22F5-A694-4D8C-8AC4-31D6E665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623685"/>
            <a:ext cx="53340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D5BD0"/>
            </a:solidFill>
            <a:prstDash val="solid"/>
          </a:ln>
        </p:spPr>
      </p:sp>
      <p:sp>
        <p:nvSpPr>
          <p:cNvPr id="17" name="node-title-External lookup">
            <a:extLst xmlns:a="http://schemas.openxmlformats.org/drawingml/2006/main">
              <a:ext uri="{FF2B5EF4-FFF2-40B4-BE49-F238E27FC236}">
                <a16:creationId xmlns:a16="http://schemas.microsoft.com/office/drawing/2014/main" id="{E3F15D0D-CAEF-4E96-A8C2-A6F758BC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800850"/>
            <a:ext cx="491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1B1E"/>
                </a:solidFill>
              </a:defRPr>
            </a:pPr>
            <a:r>
              <a:rPr sz="1725" b="1">
                <a:solidFill>
                  <a:srgbClr val="0D1B1E"/>
                </a:solidFill>
              </a:rPr>
              <a:t>External lookup</a:t>
            </a:r>
          </a:p>
        </p:txBody>
      </p:sp>
      <p:sp>
        <p:nvSpPr>
          <p:cNvPr id="18" name="node-sub-External lookup">
            <a:extLst xmlns:a="http://schemas.openxmlformats.org/drawingml/2006/main">
              <a:ext uri="{FF2B5EF4-FFF2-40B4-BE49-F238E27FC236}">
                <a16:creationId xmlns:a16="http://schemas.microsoft.com/office/drawing/2014/main" id="{D2C3950B-45E8-4ADF-B84C-2FE63066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7124700"/>
            <a:ext cx="491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7376"/>
                </a:solidFill>
              </a:defRPr>
            </a:pPr>
            <a:r>
              <a:rPr sz="1275" b="0">
                <a:solidFill>
                  <a:srgbClr val="5D7376"/>
                </a:solidFill>
              </a:rPr>
              <a:t>PubChem properties and synonyms</a:t>
            </a:r>
          </a:p>
        </p:txBody>
      </p:sp>
      <p:sp>
        <p:nvSpPr>
          <p:cNvPr id="19" name="node-Feedback loop">
            <a:extLst xmlns:a="http://schemas.openxmlformats.org/drawingml/2006/main">
              <a:ext uri="{FF2B5EF4-FFF2-40B4-BE49-F238E27FC236}">
                <a16:creationId xmlns:a16="http://schemas.microsoft.com/office/drawing/2014/main" id="{22A183B3-80BE-42A5-B7EC-2BA40FD1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6623685"/>
            <a:ext cx="53340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BC7A5"/>
            </a:solidFill>
            <a:prstDash val="solid"/>
          </a:ln>
        </p:spPr>
      </p:sp>
      <p:sp>
        <p:nvSpPr>
          <p:cNvPr id="20" name="node-title-Feedback loop">
            <a:extLst xmlns:a="http://schemas.openxmlformats.org/drawingml/2006/main">
              <a:ext uri="{FF2B5EF4-FFF2-40B4-BE49-F238E27FC236}">
                <a16:creationId xmlns:a16="http://schemas.microsoft.com/office/drawing/2014/main" id="{4E4D6DE2-DD28-487F-872E-F52E2B27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800850"/>
            <a:ext cx="491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1B1E"/>
                </a:solidFill>
              </a:defRPr>
            </a:pPr>
            <a:r>
              <a:rPr sz="1725" b="1">
                <a:solidFill>
                  <a:srgbClr val="0D1B1E"/>
                </a:solidFill>
              </a:rPr>
              <a:t>Feedback loop</a:t>
            </a:r>
          </a:p>
        </p:txBody>
      </p:sp>
      <p:sp>
        <p:nvSpPr>
          <p:cNvPr id="21" name="node-sub-Feedback loop">
            <a:extLst xmlns:a="http://schemas.openxmlformats.org/drawingml/2006/main">
              <a:ext uri="{FF2B5EF4-FFF2-40B4-BE49-F238E27FC236}">
                <a16:creationId xmlns:a16="http://schemas.microsoft.com/office/drawing/2014/main" id="{FB65F41B-C027-43D3-B193-554CE1EF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124700"/>
            <a:ext cx="491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7376"/>
                </a:solidFill>
              </a:defRPr>
            </a:pPr>
            <a:r>
              <a:rPr sz="1275" b="0">
                <a:solidFill>
                  <a:srgbClr val="5D7376"/>
                </a:solidFill>
              </a:rPr>
              <a:t>Experiment records for later review</a:t>
            </a:r>
          </a:p>
        </p:txBody>
      </p:sp>
    </p:spTree>
    <p:extLst>
      <p:ext uri="{BB962C8B-B14F-4D97-AF65-F5344CB8AC3E}">
        <p14:creationId xmlns:p14="http://schemas.microsoft.com/office/powerpoint/2010/main" val="18235981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2DF56027-866B-410E-82CC-B9024FEA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200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E8A"/>
                </a:solidFill>
              </a:defRPr>
            </a:pPr>
            <a:r>
              <a:rPr sz="1350" b="1">
                <a:solidFill>
                  <a:srgbClr val="168E8A"/>
                </a:solidFill>
              </a:rPr>
              <a:t>05 / AI RUNTIME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3540C4-156B-4CAD-A576-ABCCE5B9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19200"/>
            <a:ext cx="131254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B1E"/>
                </a:solidFill>
              </a:defRPr>
            </a:pPr>
            <a:r>
              <a:rPr sz="4350" b="1">
                <a:solidFill>
                  <a:srgbClr val="0D1B1E"/>
                </a:solidFill>
              </a:rPr>
              <a:t>OpenAI is the primary intelligence layer, not the only way the app works.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BCA3498-3094-4EEB-BFBE-7256C9C0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83629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D7376"/>
                </a:solidFill>
              </a:defRPr>
            </a:pPr>
            <a:r>
              <a:rPr sz="1875" b="0">
                <a:solidFill>
                  <a:srgbClr val="5D7376"/>
                </a:solidFill>
              </a:rPr>
              <a:t>The user gets richer interpretation with a key, and an honest local answer without one.</a:t>
            </a:r>
          </a:p>
        </p:txBody>
      </p:sp>
      <p:sp>
        <p:nvSpPr>
          <p:cNvPr id="4" name="openai-path">
            <a:extLst xmlns:a="http://schemas.openxmlformats.org/drawingml/2006/main">
              <a:ext uri="{FF2B5EF4-FFF2-40B4-BE49-F238E27FC236}">
                <a16:creationId xmlns:a16="http://schemas.microsoft.com/office/drawing/2014/main" id="{B1C5EA31-072E-4559-BC5F-55840D73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6160"/>
            <a:ext cx="8001000" cy="5429250"/>
          </a:xfrm>
          <a:prstGeom xmlns:a="http://schemas.openxmlformats.org/drawingml/2006/main" prst="roundRect">
            <a:avLst>
              <a:gd name="adj" fmla="val 49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68E8A"/>
            </a:solidFill>
            <a:prstDash val="solid"/>
          </a:ln>
        </p:spPr>
      </p:sp>
      <p:sp>
        <p:nvSpPr>
          <p:cNvPr id="5" name="openai-chip">
            <a:extLst xmlns:a="http://schemas.openxmlformats.org/drawingml/2006/main">
              <a:ext uri="{FF2B5EF4-FFF2-40B4-BE49-F238E27FC236}">
                <a16:creationId xmlns:a16="http://schemas.microsoft.com/office/drawing/2014/main" id="{9B03395E-FABE-45CD-904D-4B12EAEE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66210"/>
            <a:ext cx="209550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E8A"/>
          </a:solidFill>
        </p:spPr>
      </p:sp>
      <p:sp>
        <p:nvSpPr>
          <p:cNvPr id="6" name="openai-chip-text">
            <a:extLst xmlns:a="http://schemas.openxmlformats.org/drawingml/2006/main">
              <a:ext uri="{FF2B5EF4-FFF2-40B4-BE49-F238E27FC236}">
                <a16:creationId xmlns:a16="http://schemas.microsoft.com/office/drawing/2014/main" id="{7A4879BF-24A0-42F1-BAC5-D97F978A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57650"/>
            <a:ext cx="1752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OPENAI PRIMARY</a:t>
            </a:r>
          </a:p>
        </p:txBody>
      </p:sp>
      <p:sp>
        <p:nvSpPr>
          <p:cNvPr id="7" name="openai-copy">
            <a:extLst xmlns:a="http://schemas.openxmlformats.org/drawingml/2006/main">
              <a:ext uri="{FF2B5EF4-FFF2-40B4-BE49-F238E27FC236}">
                <a16:creationId xmlns:a16="http://schemas.microsoft.com/office/drawing/2014/main" id="{C48EBCBF-281C-4DE6-8A51-041EF801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10100"/>
            <a:ext cx="720090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D1B1E"/>
                </a:solidFill>
              </a:defRPr>
            </a:pPr>
            <a:r>
              <a:rPr sz="2550" b="1">
                <a:solidFill>
                  <a:srgbClr val="0D1B1E"/>
                </a:solidFill>
              </a:rPr>
              <a:t>Compound, interaction, and discovery results can be augmented with model-generated summaries, rankings, and rationale.</a:t>
            </a:r>
          </a:p>
        </p:txBody>
      </p:sp>
      <p:sp>
        <p:nvSpPr>
          <p:cNvPr id="8" name="openai-note">
            <a:extLst xmlns:a="http://schemas.openxmlformats.org/drawingml/2006/main">
              <a:ext uri="{FF2B5EF4-FFF2-40B4-BE49-F238E27FC236}">
                <a16:creationId xmlns:a16="http://schemas.microsoft.com/office/drawing/2014/main" id="{94316551-8241-4BC3-93C4-2E4ECCF5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019800"/>
            <a:ext cx="7200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D7376"/>
                </a:solidFill>
              </a:defRPr>
            </a:pPr>
            <a:r>
              <a:rPr sz="1725" b="0">
                <a:solidFill>
                  <a:srgbClr val="5D7376"/>
                </a:solidFill>
              </a:rPr>
              <a:t>Default model is configurable through environment variables, so deployment can adapt as model access changes.</a:t>
            </a:r>
          </a:p>
        </p:txBody>
      </p:sp>
      <p:sp>
        <p:nvSpPr>
          <p:cNvPr id="9" name="fallback-path">
            <a:extLst xmlns:a="http://schemas.openxmlformats.org/drawingml/2006/main">
              <a:ext uri="{FF2B5EF4-FFF2-40B4-BE49-F238E27FC236}">
                <a16:creationId xmlns:a16="http://schemas.microsoft.com/office/drawing/2014/main" id="{A20A44CC-229F-4D8E-9DC0-50C6C5EC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66160"/>
            <a:ext cx="8001000" cy="5429250"/>
          </a:xfrm>
          <a:prstGeom xmlns:a="http://schemas.openxmlformats.org/drawingml/2006/main" prst="roundRect">
            <a:avLst>
              <a:gd name="adj" fmla="val 4912"/>
            </a:avLst>
          </a:prstGeom>
          <a:solidFill xmlns:a="http://schemas.openxmlformats.org/drawingml/2006/main">
            <a:srgbClr val="EFF5F0"/>
          </a:solidFill>
          <a:ln xmlns:a="http://schemas.openxmlformats.org/drawingml/2006/main" w="38100">
            <a:solidFill>
              <a:srgbClr val="E4A83A"/>
            </a:solidFill>
            <a:prstDash val="solid"/>
          </a:ln>
        </p:spPr>
      </p:sp>
      <p:sp>
        <p:nvSpPr>
          <p:cNvPr id="10" name="fallback-chip">
            <a:extLst xmlns:a="http://schemas.openxmlformats.org/drawingml/2006/main">
              <a:ext uri="{FF2B5EF4-FFF2-40B4-BE49-F238E27FC236}">
                <a16:creationId xmlns:a16="http://schemas.microsoft.com/office/drawing/2014/main" id="{8D912ED3-778C-4123-9B0B-C0814D0E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66210"/>
            <a:ext cx="20002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A83A"/>
          </a:solidFill>
        </p:spPr>
      </p:sp>
      <p:sp>
        <p:nvSpPr>
          <p:cNvPr id="11" name="fallback-chip-text">
            <a:extLst xmlns:a="http://schemas.openxmlformats.org/drawingml/2006/main">
              <a:ext uri="{FF2B5EF4-FFF2-40B4-BE49-F238E27FC236}">
                <a16:creationId xmlns:a16="http://schemas.microsoft.com/office/drawing/2014/main" id="{3B31ECF8-93CE-44E5-9959-3FCB22EE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057650"/>
            <a:ext cx="1676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514"/>
                </a:solidFill>
              </a:defRPr>
            </a:pPr>
            <a:r>
              <a:rPr sz="1350" b="1">
                <a:solidFill>
                  <a:srgbClr val="071514"/>
                </a:solidFill>
              </a:rPr>
              <a:t>LOCAL FALLBACK</a:t>
            </a:r>
          </a:p>
        </p:txBody>
      </p:sp>
      <p:sp>
        <p:nvSpPr>
          <p:cNvPr id="12" name="fallback-copy">
            <a:extLst xmlns:a="http://schemas.openxmlformats.org/drawingml/2006/main">
              <a:ext uri="{FF2B5EF4-FFF2-40B4-BE49-F238E27FC236}">
                <a16:creationId xmlns:a16="http://schemas.microsoft.com/office/drawing/2014/main" id="{4FC573CD-224B-457A-926C-B81A6EF5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10100"/>
            <a:ext cx="720090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D1B1E"/>
                </a:solidFill>
              </a:defRPr>
            </a:pPr>
            <a:r>
              <a:rPr sz="2550" b="1">
                <a:solidFill>
                  <a:srgbClr val="0D1B1E"/>
                </a:solidFill>
              </a:rPr>
              <a:t>When the key is missing, quota-limited, or unavailable, local KB reasoning still returns useful profiles and candidates.</a:t>
            </a:r>
          </a:p>
        </p:txBody>
      </p:sp>
      <p:sp>
        <p:nvSpPr>
          <p:cNvPr id="13" name="fallback-note">
            <a:extLst xmlns:a="http://schemas.openxmlformats.org/drawingml/2006/main">
              <a:ext uri="{FF2B5EF4-FFF2-40B4-BE49-F238E27FC236}">
                <a16:creationId xmlns:a16="http://schemas.microsoft.com/office/drawing/2014/main" id="{E8B3E797-8719-4469-8EBA-183D90B3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19800"/>
            <a:ext cx="7200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D7376"/>
                </a:solidFill>
              </a:defRPr>
            </a:pPr>
            <a:r>
              <a:rPr sz="1725" b="0">
                <a:solidFill>
                  <a:srgbClr val="5D7376"/>
                </a:solidFill>
              </a:rPr>
              <a:t>Responses explicitly report mode and fallback reason instead of hiding degradation.</a:t>
            </a:r>
          </a:p>
        </p:txBody>
      </p:sp>
    </p:spTree>
    <p:extLst>
      <p:ext uri="{BB962C8B-B14F-4D97-AF65-F5344CB8AC3E}">
        <p14:creationId xmlns:p14="http://schemas.microsoft.com/office/powerpoint/2010/main" val="11993496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A05CA835-EF3F-4B98-B490-4AAE3601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295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E8A"/>
                </a:solidFill>
              </a:defRPr>
            </a:pPr>
            <a:r>
              <a:rPr sz="1350" b="1">
                <a:solidFill>
                  <a:srgbClr val="168E8A"/>
                </a:solidFill>
              </a:rPr>
              <a:t>06 / AGENT LAYER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340BA7-69EA-4D75-8130-E3C08C5B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19200"/>
            <a:ext cx="1266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B1E"/>
                </a:solidFill>
              </a:defRPr>
            </a:pPr>
            <a:r>
              <a:rPr sz="4350" b="1">
                <a:solidFill>
                  <a:srgbClr val="0D1B1E"/>
                </a:solidFill>
              </a:rPr>
              <a:t>Seven specialized agents wrap one shared service layer.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D6B748A-A204-4919-B01E-5D31B167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D7376"/>
                </a:solidFill>
              </a:defRPr>
            </a:pPr>
            <a:r>
              <a:rPr sz="1875" b="0">
                <a:solidFill>
                  <a:srgbClr val="5D7376"/>
                </a:solidFill>
              </a:rPr>
              <a:t>The wrappers are thin. The business logic stays in reusable, importable modules.</a:t>
            </a:r>
          </a:p>
        </p:txBody>
      </p:sp>
      <p:sp>
        <p:nvSpPr>
          <p:cNvPr id="4" name="hdr-agent">
            <a:extLst xmlns:a="http://schemas.openxmlformats.org/drawingml/2006/main">
              <a:ext uri="{FF2B5EF4-FFF2-40B4-BE49-F238E27FC236}">
                <a16:creationId xmlns:a16="http://schemas.microsoft.com/office/drawing/2014/main" id="{BABB68B5-FCDD-42AD-9064-4A494966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4305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E8A"/>
                </a:solidFill>
              </a:defRPr>
            </a:pPr>
            <a:r>
              <a:rPr sz="1500" b="1">
                <a:solidFill>
                  <a:srgbClr val="168E8A"/>
                </a:solidFill>
              </a:rPr>
              <a:t>Agent</a:t>
            </a:r>
          </a:p>
        </p:txBody>
      </p:sp>
      <p:sp>
        <p:nvSpPr>
          <p:cNvPr id="5" name="hdr-job">
            <a:extLst xmlns:a="http://schemas.openxmlformats.org/drawingml/2006/main">
              <a:ext uri="{FF2B5EF4-FFF2-40B4-BE49-F238E27FC236}">
                <a16:creationId xmlns:a16="http://schemas.microsoft.com/office/drawing/2014/main" id="{CDD397EE-9B27-47CF-929C-E1C4645C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09850"/>
            <a:ext cx="63246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E8A"/>
                </a:solidFill>
              </a:defRPr>
            </a:pPr>
            <a:r>
              <a:rPr sz="1500" b="1">
                <a:solidFill>
                  <a:srgbClr val="168E8A"/>
                </a:solidFill>
              </a:rPr>
              <a:t>Job</a:t>
            </a:r>
          </a:p>
        </p:txBody>
      </p:sp>
      <p:sp>
        <p:nvSpPr>
          <p:cNvPr id="6" name="hdr-backed">
            <a:extLst xmlns:a="http://schemas.openxmlformats.org/drawingml/2006/main">
              <a:ext uri="{FF2B5EF4-FFF2-40B4-BE49-F238E27FC236}">
                <a16:creationId xmlns:a16="http://schemas.microsoft.com/office/drawing/2014/main" id="{E320211E-EA6F-4F3C-A614-E8D10D31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2609850"/>
            <a:ext cx="55626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E8A"/>
                </a:solidFill>
              </a:defRPr>
            </a:pPr>
            <a:r>
              <a:rPr sz="1500" b="1">
                <a:solidFill>
                  <a:srgbClr val="168E8A"/>
                </a:solidFill>
              </a:rPr>
              <a:t>Backed by</a:t>
            </a:r>
          </a:p>
        </p:txBody>
      </p:sp>
      <p:sp>
        <p:nvSpPr>
          <p:cNvPr id="7" name="agent-1">
            <a:extLst xmlns:a="http://schemas.openxmlformats.org/drawingml/2006/main">
              <a:ext uri="{FF2B5EF4-FFF2-40B4-BE49-F238E27FC236}">
                <a16:creationId xmlns:a16="http://schemas.microsoft.com/office/drawing/2014/main" id="{9D99D32F-9EC7-4AFB-B831-97649E62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43053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1B1E"/>
                </a:solidFill>
              </a:defRPr>
            </a:pPr>
            <a:r>
              <a:rPr sz="1875" b="1">
                <a:solidFill>
                  <a:srgbClr val="0D1B1E"/>
                </a:solidFill>
              </a:rPr>
              <a:t>CompoundAgent</a:t>
            </a:r>
          </a:p>
        </p:txBody>
      </p:sp>
      <p:sp>
        <p:nvSpPr>
          <p:cNvPr id="8" name="job-1">
            <a:extLst xmlns:a="http://schemas.openxmlformats.org/drawingml/2006/main">
              <a:ext uri="{FF2B5EF4-FFF2-40B4-BE49-F238E27FC236}">
                <a16:creationId xmlns:a16="http://schemas.microsoft.com/office/drawing/2014/main" id="{4E68F8D5-0EC2-4A54-8F36-0107DE40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67100"/>
            <a:ext cx="6324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4044"/>
                </a:solidFill>
              </a:defRPr>
            </a:pPr>
            <a:r>
              <a:rPr sz="1800" b="0">
                <a:solidFill>
                  <a:srgbClr val="264044"/>
                </a:solidFill>
              </a:rPr>
              <a:t>Profiles molecules from the knowledge base</a:t>
            </a:r>
          </a:p>
        </p:txBody>
      </p:sp>
      <p:sp>
        <p:nvSpPr>
          <p:cNvPr id="9" name="svc-1">
            <a:extLst xmlns:a="http://schemas.openxmlformats.org/drawingml/2006/main">
              <a:ext uri="{FF2B5EF4-FFF2-40B4-BE49-F238E27FC236}">
                <a16:creationId xmlns:a16="http://schemas.microsoft.com/office/drawing/2014/main" id="{D5CC35FF-3307-4DDA-9BB6-34BEC901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3467100"/>
            <a:ext cx="5562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D7376"/>
                </a:solidFill>
              </a:defRPr>
            </a:pPr>
            <a:r>
              <a:rPr sz="1800" b="0">
                <a:solidFill>
                  <a:srgbClr val="5D7376"/>
                </a:solidFill>
              </a:rPr>
              <a:t>CompoundService</a:t>
            </a:r>
          </a:p>
        </p:txBody>
      </p:sp>
      <p:sp>
        <p:nvSpPr>
          <p:cNvPr id="10" name="agent-2">
            <a:extLst xmlns:a="http://schemas.openxmlformats.org/drawingml/2006/main">
              <a:ext uri="{FF2B5EF4-FFF2-40B4-BE49-F238E27FC236}">
                <a16:creationId xmlns:a16="http://schemas.microsoft.com/office/drawing/2014/main" id="{79E20B70-93E3-45EA-B7B0-40B88ECE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43053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1B1E"/>
                </a:solidFill>
              </a:defRPr>
            </a:pPr>
            <a:r>
              <a:rPr sz="1875" b="1">
                <a:solidFill>
                  <a:srgbClr val="0D1B1E"/>
                </a:solidFill>
              </a:rPr>
              <a:t>ReactionAgent</a:t>
            </a:r>
          </a:p>
        </p:txBody>
      </p:sp>
      <p:sp>
        <p:nvSpPr>
          <p:cNvPr id="11" name="job-2">
            <a:extLst xmlns:a="http://schemas.openxmlformats.org/drawingml/2006/main">
              <a:ext uri="{FF2B5EF4-FFF2-40B4-BE49-F238E27FC236}">
                <a16:creationId xmlns:a16="http://schemas.microsoft.com/office/drawing/2014/main" id="{F3B41344-53DF-4CAC-8DC3-2112CD93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362450"/>
            <a:ext cx="6324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4044"/>
                </a:solidFill>
              </a:defRPr>
            </a:pPr>
            <a:r>
              <a:rPr sz="1800" b="0">
                <a:solidFill>
                  <a:srgbClr val="264044"/>
                </a:solidFill>
              </a:rPr>
              <a:t>Simulates interaction risk and warnings</a:t>
            </a:r>
          </a:p>
        </p:txBody>
      </p:sp>
      <p:sp>
        <p:nvSpPr>
          <p:cNvPr id="12" name="svc-2">
            <a:extLst xmlns:a="http://schemas.openxmlformats.org/drawingml/2006/main">
              <a:ext uri="{FF2B5EF4-FFF2-40B4-BE49-F238E27FC236}">
                <a16:creationId xmlns:a16="http://schemas.microsoft.com/office/drawing/2014/main" id="{646D0DF5-7F73-44FA-92F6-1D75F4EE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4362450"/>
            <a:ext cx="5562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D7376"/>
                </a:solidFill>
              </a:defRPr>
            </a:pPr>
            <a:r>
              <a:rPr sz="1800" b="0">
                <a:solidFill>
                  <a:srgbClr val="5D7376"/>
                </a:solidFill>
              </a:rPr>
              <a:t>ReactionService</a:t>
            </a:r>
          </a:p>
        </p:txBody>
      </p:sp>
      <p:sp>
        <p:nvSpPr>
          <p:cNvPr id="13" name="agent-3">
            <a:extLst xmlns:a="http://schemas.openxmlformats.org/drawingml/2006/main">
              <a:ext uri="{FF2B5EF4-FFF2-40B4-BE49-F238E27FC236}">
                <a16:creationId xmlns:a16="http://schemas.microsoft.com/office/drawing/2014/main" id="{9F3CC975-2E51-4D66-B5E9-D6A74F99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43053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1B1E"/>
                </a:solidFill>
              </a:defRPr>
            </a:pPr>
            <a:r>
              <a:rPr sz="1875" b="1">
                <a:solidFill>
                  <a:srgbClr val="0D1B1E"/>
                </a:solidFill>
              </a:rPr>
              <a:t>ResearchAgent</a:t>
            </a:r>
          </a:p>
        </p:txBody>
      </p:sp>
      <p:sp>
        <p:nvSpPr>
          <p:cNvPr id="14" name="job-3">
            <a:extLst xmlns:a="http://schemas.openxmlformats.org/drawingml/2006/main">
              <a:ext uri="{FF2B5EF4-FFF2-40B4-BE49-F238E27FC236}">
                <a16:creationId xmlns:a16="http://schemas.microsoft.com/office/drawing/2014/main" id="{E01D1569-6E13-42B4-91D8-FBF635F5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257800"/>
            <a:ext cx="6324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4044"/>
                </a:solidFill>
              </a:defRPr>
            </a:pPr>
            <a:r>
              <a:rPr sz="1800" b="0">
                <a:solidFill>
                  <a:srgbClr val="264044"/>
                </a:solidFill>
              </a:rPr>
              <a:t>Finds candidates using filters</a:t>
            </a:r>
          </a:p>
        </p:txBody>
      </p:sp>
      <p:sp>
        <p:nvSpPr>
          <p:cNvPr id="15" name="svc-3">
            <a:extLst xmlns:a="http://schemas.openxmlformats.org/drawingml/2006/main">
              <a:ext uri="{FF2B5EF4-FFF2-40B4-BE49-F238E27FC236}">
                <a16:creationId xmlns:a16="http://schemas.microsoft.com/office/drawing/2014/main" id="{02C55B8F-E585-4D3A-AF3A-F5CA16D0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5257800"/>
            <a:ext cx="5562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D7376"/>
                </a:solidFill>
              </a:defRPr>
            </a:pPr>
            <a:r>
              <a:rPr sz="1800" b="0">
                <a:solidFill>
                  <a:srgbClr val="5D7376"/>
                </a:solidFill>
              </a:rPr>
              <a:t>ResearchService</a:t>
            </a:r>
          </a:p>
        </p:txBody>
      </p:sp>
      <p:sp>
        <p:nvSpPr>
          <p:cNvPr id="16" name="agent-4">
            <a:extLst xmlns:a="http://schemas.openxmlformats.org/drawingml/2006/main">
              <a:ext uri="{FF2B5EF4-FFF2-40B4-BE49-F238E27FC236}">
                <a16:creationId xmlns:a16="http://schemas.microsoft.com/office/drawing/2014/main" id="{BF227AA4-2ADB-4D8E-A901-046F0CE7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53150"/>
            <a:ext cx="43053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1B1E"/>
                </a:solidFill>
              </a:defRPr>
            </a:pPr>
            <a:r>
              <a:rPr sz="1875" b="1">
                <a:solidFill>
                  <a:srgbClr val="0D1B1E"/>
                </a:solidFill>
              </a:rPr>
              <a:t>AnalysisAgent</a:t>
            </a:r>
          </a:p>
        </p:txBody>
      </p:sp>
      <p:sp>
        <p:nvSpPr>
          <p:cNvPr id="17" name="job-4">
            <a:extLst xmlns:a="http://schemas.openxmlformats.org/drawingml/2006/main">
              <a:ext uri="{FF2B5EF4-FFF2-40B4-BE49-F238E27FC236}">
                <a16:creationId xmlns:a16="http://schemas.microsoft.com/office/drawing/2014/main" id="{F80AEAE9-9615-4E54-9B44-FF8F2391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153150"/>
            <a:ext cx="6324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4044"/>
                </a:solidFill>
              </a:defRPr>
            </a:pPr>
            <a:r>
              <a:rPr sz="1800" b="0">
                <a:solidFill>
                  <a:srgbClr val="264044"/>
                </a:solidFill>
              </a:rPr>
              <a:t>Ranks and summarizes candidate sets</a:t>
            </a:r>
          </a:p>
        </p:txBody>
      </p:sp>
      <p:sp>
        <p:nvSpPr>
          <p:cNvPr id="18" name="svc-4">
            <a:extLst xmlns:a="http://schemas.openxmlformats.org/drawingml/2006/main">
              <a:ext uri="{FF2B5EF4-FFF2-40B4-BE49-F238E27FC236}">
                <a16:creationId xmlns:a16="http://schemas.microsoft.com/office/drawing/2014/main" id="{3C1CCB6B-050B-4D24-8774-F3450F12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6153150"/>
            <a:ext cx="5562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D7376"/>
                </a:solidFill>
              </a:defRPr>
            </a:pPr>
            <a:r>
              <a:rPr sz="1800" b="0">
                <a:solidFill>
                  <a:srgbClr val="5D7376"/>
                </a:solidFill>
              </a:rPr>
              <a:t>AnalysisService</a:t>
            </a:r>
          </a:p>
        </p:txBody>
      </p:sp>
      <p:sp>
        <p:nvSpPr>
          <p:cNvPr id="19" name="agent-5">
            <a:extLst xmlns:a="http://schemas.openxmlformats.org/drawingml/2006/main">
              <a:ext uri="{FF2B5EF4-FFF2-40B4-BE49-F238E27FC236}">
                <a16:creationId xmlns:a16="http://schemas.microsoft.com/office/drawing/2014/main" id="{C9ADF6AF-F91C-4C5D-9914-E823DB36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0"/>
            <a:ext cx="43053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1B1E"/>
                </a:solidFill>
              </a:defRPr>
            </a:pPr>
            <a:r>
              <a:rPr sz="1875" b="1">
                <a:solidFill>
                  <a:srgbClr val="0D1B1E"/>
                </a:solidFill>
              </a:rPr>
              <a:t>DatabaseAgent</a:t>
            </a:r>
          </a:p>
        </p:txBody>
      </p:sp>
      <p:sp>
        <p:nvSpPr>
          <p:cNvPr id="20" name="job-5">
            <a:extLst xmlns:a="http://schemas.openxmlformats.org/drawingml/2006/main">
              <a:ext uri="{FF2B5EF4-FFF2-40B4-BE49-F238E27FC236}">
                <a16:creationId xmlns:a16="http://schemas.microsoft.com/office/drawing/2014/main" id="{CE4A862B-148D-4C13-8201-3C644E0C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7048500"/>
            <a:ext cx="6324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4044"/>
                </a:solidFill>
              </a:defRPr>
            </a:pPr>
            <a:r>
              <a:rPr sz="1800" b="0">
                <a:solidFill>
                  <a:srgbClr val="264044"/>
                </a:solidFill>
              </a:rPr>
              <a:t>Fetches PubChem compound metadata</a:t>
            </a:r>
          </a:p>
        </p:txBody>
      </p:sp>
      <p:sp>
        <p:nvSpPr>
          <p:cNvPr id="21" name="svc-5">
            <a:extLst xmlns:a="http://schemas.openxmlformats.org/drawingml/2006/main">
              <a:ext uri="{FF2B5EF4-FFF2-40B4-BE49-F238E27FC236}">
                <a16:creationId xmlns:a16="http://schemas.microsoft.com/office/drawing/2014/main" id="{3322A769-1F4A-4208-9B65-1603137C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7048500"/>
            <a:ext cx="5562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D7376"/>
                </a:solidFill>
              </a:defRPr>
            </a:pPr>
            <a:r>
              <a:rPr sz="1800" b="0">
                <a:solidFill>
                  <a:srgbClr val="5D7376"/>
                </a:solidFill>
              </a:rPr>
              <a:t>DatabaseService</a:t>
            </a:r>
          </a:p>
        </p:txBody>
      </p:sp>
      <p:sp>
        <p:nvSpPr>
          <p:cNvPr id="22" name="agent-6">
            <a:extLst xmlns:a="http://schemas.openxmlformats.org/drawingml/2006/main">
              <a:ext uri="{FF2B5EF4-FFF2-40B4-BE49-F238E27FC236}">
                <a16:creationId xmlns:a16="http://schemas.microsoft.com/office/drawing/2014/main" id="{C11E7E66-2C13-4677-9339-BB527A8E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962900"/>
            <a:ext cx="43053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1B1E"/>
                </a:solidFill>
              </a:defRPr>
            </a:pPr>
            <a:r>
              <a:rPr sz="1875" b="1">
                <a:solidFill>
                  <a:srgbClr val="0D1B1E"/>
                </a:solidFill>
              </a:rPr>
              <a:t>LLMAgent</a:t>
            </a:r>
          </a:p>
        </p:txBody>
      </p:sp>
      <p:sp>
        <p:nvSpPr>
          <p:cNvPr id="23" name="job-6">
            <a:extLst xmlns:a="http://schemas.openxmlformats.org/drawingml/2006/main">
              <a:ext uri="{FF2B5EF4-FFF2-40B4-BE49-F238E27FC236}">
                <a16:creationId xmlns:a16="http://schemas.microsoft.com/office/drawing/2014/main" id="{44657EC0-64C2-4F42-80BB-7E2C8BE5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7962900"/>
            <a:ext cx="6324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4044"/>
                </a:solidFill>
              </a:defRPr>
            </a:pPr>
            <a:r>
              <a:rPr sz="1800" b="0">
                <a:solidFill>
                  <a:srgbClr val="264044"/>
                </a:solidFill>
              </a:rPr>
              <a:t>Adds OpenAI analysis and candidate generation</a:t>
            </a:r>
          </a:p>
        </p:txBody>
      </p:sp>
      <p:sp>
        <p:nvSpPr>
          <p:cNvPr id="24" name="svc-6">
            <a:extLst xmlns:a="http://schemas.openxmlformats.org/drawingml/2006/main">
              <a:ext uri="{FF2B5EF4-FFF2-40B4-BE49-F238E27FC236}">
                <a16:creationId xmlns:a16="http://schemas.microsoft.com/office/drawing/2014/main" id="{5834D6C8-E178-4B62-9912-2D801236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7962900"/>
            <a:ext cx="5562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D7376"/>
                </a:solidFill>
              </a:defRPr>
            </a:pPr>
            <a:r>
              <a:rPr sz="1800" b="0">
                <a:solidFill>
                  <a:srgbClr val="5D7376"/>
                </a:solidFill>
              </a:rPr>
              <a:t>LLMService</a:t>
            </a:r>
          </a:p>
        </p:txBody>
      </p:sp>
      <p:sp>
        <p:nvSpPr>
          <p:cNvPr id="25" name="agent-7">
            <a:extLst xmlns:a="http://schemas.openxmlformats.org/drawingml/2006/main">
              <a:ext uri="{FF2B5EF4-FFF2-40B4-BE49-F238E27FC236}">
                <a16:creationId xmlns:a16="http://schemas.microsoft.com/office/drawing/2014/main" id="{72418684-A616-4646-8EC8-EAF672FD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858250"/>
            <a:ext cx="43053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1B1E"/>
                </a:solidFill>
              </a:defRPr>
            </a:pPr>
            <a:r>
              <a:rPr sz="1875" b="1">
                <a:solidFill>
                  <a:srgbClr val="0D1B1E"/>
                </a:solidFill>
              </a:rPr>
              <a:t>FeedbackAgent</a:t>
            </a:r>
          </a:p>
        </p:txBody>
      </p:sp>
      <p:sp>
        <p:nvSpPr>
          <p:cNvPr id="26" name="job-7">
            <a:extLst xmlns:a="http://schemas.openxmlformats.org/drawingml/2006/main">
              <a:ext uri="{FF2B5EF4-FFF2-40B4-BE49-F238E27FC236}">
                <a16:creationId xmlns:a16="http://schemas.microsoft.com/office/drawing/2014/main" id="{7FD74073-E4D5-4478-8DF9-6474262E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8858250"/>
            <a:ext cx="6324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4044"/>
                </a:solidFill>
              </a:defRPr>
            </a:pPr>
            <a:r>
              <a:rPr sz="1800" b="0">
                <a:solidFill>
                  <a:srgbClr val="264044"/>
                </a:solidFill>
              </a:rPr>
              <a:t>Persists experiment feedback</a:t>
            </a:r>
          </a:p>
        </p:txBody>
      </p:sp>
      <p:sp>
        <p:nvSpPr>
          <p:cNvPr id="27" name="svc-7">
            <a:extLst xmlns:a="http://schemas.openxmlformats.org/drawingml/2006/main">
              <a:ext uri="{FF2B5EF4-FFF2-40B4-BE49-F238E27FC236}">
                <a16:creationId xmlns:a16="http://schemas.microsoft.com/office/drawing/2014/main" id="{13238772-C5FC-45B1-9E95-26BBA00C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8858250"/>
            <a:ext cx="5562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D7376"/>
                </a:solidFill>
              </a:defRPr>
            </a:pPr>
            <a:r>
              <a:rPr sz="1800" b="0">
                <a:solidFill>
                  <a:srgbClr val="5D7376"/>
                </a:solidFill>
              </a:rPr>
              <a:t>FeedbackService</a:t>
            </a:r>
          </a:p>
        </p:txBody>
      </p:sp>
    </p:spTree>
    <p:extLst>
      <p:ext uri="{BB962C8B-B14F-4D97-AF65-F5344CB8AC3E}">
        <p14:creationId xmlns:p14="http://schemas.microsoft.com/office/powerpoint/2010/main" val="13081717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E401767-938A-4806-B774-4EDEC8A3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E8A"/>
                </a:solidFill>
              </a:defRPr>
            </a:pPr>
            <a:r>
              <a:rPr sz="1350" b="1">
                <a:solidFill>
                  <a:srgbClr val="168E8A"/>
                </a:solidFill>
              </a:rPr>
              <a:t>07 / DEMO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38490E-52AE-46A5-A429-BC1F43BC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09650"/>
            <a:ext cx="129921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B1E"/>
                </a:solidFill>
              </a:defRPr>
            </a:pPr>
            <a:r>
              <a:rPr sz="4350" b="1">
                <a:solidFill>
                  <a:srgbClr val="0D1B1E"/>
                </a:solidFill>
              </a:rPr>
              <a:t>A useful run starts with HZSM_5 and ends with a ranked, explainable action.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DF16B41-796F-4A10-A9C1-67252FDC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83629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D7376"/>
                </a:solidFill>
              </a:defRPr>
            </a:pPr>
            <a:r>
              <a:rPr sz="1875" b="0">
                <a:solidFill>
                  <a:srgbClr val="5D7376"/>
                </a:solidFill>
              </a:rPr>
              <a:t>The flow is short enough for a demo, but grounded enough for a product conversation.</a:t>
            </a:r>
          </a:p>
        </p:txBody>
      </p:sp>
      <p:sp>
        <p:nvSpPr>
          <p:cNvPr id="4" name="demo-input">
            <a:extLst xmlns:a="http://schemas.openxmlformats.org/drawingml/2006/main">
              <a:ext uri="{FF2B5EF4-FFF2-40B4-BE49-F238E27FC236}">
                <a16:creationId xmlns:a16="http://schemas.microsoft.com/office/drawing/2014/main" id="{7E552892-A050-45A9-A5DE-E2D3930B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60420"/>
            <a:ext cx="5767578" cy="533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71514"/>
          </a:solidFill>
        </p:spPr>
      </p:sp>
      <p:sp>
        <p:nvSpPr>
          <p:cNvPr id="5" name="demo-input-label">
            <a:extLst xmlns:a="http://schemas.openxmlformats.org/drawingml/2006/main">
              <a:ext uri="{FF2B5EF4-FFF2-40B4-BE49-F238E27FC236}">
                <a16:creationId xmlns:a16="http://schemas.microsoft.com/office/drawing/2014/main" id="{8ACEAFC6-140E-4AF5-89FF-C299772B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24400"/>
            <a:ext cx="501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BC7A5"/>
                </a:solidFill>
              </a:defRPr>
            </a:pPr>
            <a:r>
              <a:rPr sz="1650" b="1">
                <a:solidFill>
                  <a:srgbClr val="7BC7A5"/>
                </a:solidFill>
              </a:rPr>
              <a:t>Example input</a:t>
            </a:r>
          </a:p>
        </p:txBody>
      </p:sp>
      <p:sp>
        <p:nvSpPr>
          <p:cNvPr id="6" name="demo-input-copy">
            <a:extLst xmlns:a="http://schemas.openxmlformats.org/drawingml/2006/main">
              <a:ext uri="{FF2B5EF4-FFF2-40B4-BE49-F238E27FC236}">
                <a16:creationId xmlns:a16="http://schemas.microsoft.com/office/drawing/2014/main" id="{8BC3183E-FA4A-4524-83D4-748AD22C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00650"/>
            <a:ext cx="501015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Find enzyme or catalyst candidates with high selectivity.</a:t>
            </a:r>
          </a:p>
        </p:txBody>
      </p:sp>
      <p:sp>
        <p:nvSpPr>
          <p:cNvPr id="7" name="demo-chip">
            <a:extLst xmlns:a="http://schemas.openxmlformats.org/drawingml/2006/main">
              <a:ext uri="{FF2B5EF4-FFF2-40B4-BE49-F238E27FC236}">
                <a16:creationId xmlns:a16="http://schemas.microsoft.com/office/drawing/2014/main" id="{6FEB2C2C-281A-4975-8DC3-274FD9BD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938010"/>
            <a:ext cx="16192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BC7A5"/>
          </a:solidFill>
        </p:spPr>
      </p:sp>
      <p:sp>
        <p:nvSpPr>
          <p:cNvPr id="8" name="demo-chip-text">
            <a:extLst xmlns:a="http://schemas.openxmlformats.org/drawingml/2006/main">
              <a:ext uri="{FF2B5EF4-FFF2-40B4-BE49-F238E27FC236}">
                <a16:creationId xmlns:a16="http://schemas.microsoft.com/office/drawing/2014/main" id="{358BFC45-32D0-430C-8316-DF81C9A2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29450"/>
            <a:ext cx="129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514"/>
                </a:solidFill>
              </a:defRPr>
            </a:pPr>
            <a:r>
              <a:rPr sz="1350" b="1">
                <a:solidFill>
                  <a:srgbClr val="071514"/>
                </a:solidFill>
              </a:rPr>
              <a:t>base: HZSM_5</a:t>
            </a:r>
          </a:p>
        </p:txBody>
      </p:sp>
      <p:sp>
        <p:nvSpPr>
          <p:cNvPr id="9" name="stage-Resolve profile">
            <a:extLst xmlns:a="http://schemas.openxmlformats.org/drawingml/2006/main">
              <a:ext uri="{FF2B5EF4-FFF2-40B4-BE49-F238E27FC236}">
                <a16:creationId xmlns:a16="http://schemas.microsoft.com/office/drawing/2014/main" id="{898F8AAE-96BB-49E2-8A2F-F43C5419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228" y="3385185"/>
            <a:ext cx="10253472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D8"/>
            </a:solidFill>
            <a:prstDash val="solid"/>
          </a:ln>
        </p:spPr>
      </p:sp>
      <p:sp>
        <p:nvSpPr>
          <p:cNvPr id="10" name="stage-chip-Resolve profile">
            <a:extLst xmlns:a="http://schemas.openxmlformats.org/drawingml/2006/main">
              <a:ext uri="{FF2B5EF4-FFF2-40B4-BE49-F238E27FC236}">
                <a16:creationId xmlns:a16="http://schemas.microsoft.com/office/drawing/2014/main" id="{13D2CCB4-2566-4836-99E3-6487C19A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828" y="3585210"/>
            <a:ext cx="16192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E8A"/>
          </a:solidFill>
        </p:spPr>
      </p:sp>
      <p:sp>
        <p:nvSpPr>
          <p:cNvPr id="11" name="stage-chip-Resolve profile-text">
            <a:extLst xmlns:a="http://schemas.openxmlformats.org/drawingml/2006/main">
              <a:ext uri="{FF2B5EF4-FFF2-40B4-BE49-F238E27FC236}">
                <a16:creationId xmlns:a16="http://schemas.microsoft.com/office/drawing/2014/main" id="{03A1F676-E0F1-49B6-B605-9D45820E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76650"/>
            <a:ext cx="129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Resolve profile</a:t>
            </a:r>
          </a:p>
        </p:txBody>
      </p:sp>
      <p:sp>
        <p:nvSpPr>
          <p:cNvPr id="12" name="stage-sub-Resolve profile">
            <a:extLst xmlns:a="http://schemas.openxmlformats.org/drawingml/2006/main">
              <a:ext uri="{FF2B5EF4-FFF2-40B4-BE49-F238E27FC236}">
                <a16:creationId xmlns:a16="http://schemas.microsoft.com/office/drawing/2014/main" id="{29C74820-6AA4-48F7-9B5E-962EB015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57650"/>
            <a:ext cx="9791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4044"/>
                </a:solidFill>
              </a:defRPr>
            </a:pPr>
            <a:r>
              <a:rPr sz="1275" b="1">
                <a:solidFill>
                  <a:srgbClr val="264044"/>
                </a:solidFill>
              </a:rPr>
              <a:t>Properties, categories, targets, interactions</a:t>
            </a:r>
          </a:p>
        </p:txBody>
      </p:sp>
      <p:sp>
        <p:nvSpPr>
          <p:cNvPr id="13" name="stage-Discover candidates">
            <a:extLst xmlns:a="http://schemas.openxmlformats.org/drawingml/2006/main">
              <a:ext uri="{FF2B5EF4-FFF2-40B4-BE49-F238E27FC236}">
                <a16:creationId xmlns:a16="http://schemas.microsoft.com/office/drawing/2014/main" id="{A479574B-6EC3-4D64-B6A4-065B1741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228" y="4585335"/>
            <a:ext cx="10253472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D8"/>
            </a:solidFill>
            <a:prstDash val="solid"/>
          </a:ln>
        </p:spPr>
      </p:sp>
      <p:sp>
        <p:nvSpPr>
          <p:cNvPr id="14" name="stage-chip-Discover candidates">
            <a:extLst xmlns:a="http://schemas.openxmlformats.org/drawingml/2006/main">
              <a:ext uri="{FF2B5EF4-FFF2-40B4-BE49-F238E27FC236}">
                <a16:creationId xmlns:a16="http://schemas.microsoft.com/office/drawing/2014/main" id="{FDF1AFC9-6303-4454-A710-ADE3526D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828" y="4745355"/>
            <a:ext cx="1619250" cy="6019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75D8"/>
          </a:solidFill>
        </p:spPr>
      </p:sp>
      <p:sp>
        <p:nvSpPr>
          <p:cNvPr id="15" name="stage-chip-Discover candidates-text">
            <a:extLst xmlns:a="http://schemas.openxmlformats.org/drawingml/2006/main">
              <a:ext uri="{FF2B5EF4-FFF2-40B4-BE49-F238E27FC236}">
                <a16:creationId xmlns:a16="http://schemas.microsoft.com/office/drawing/2014/main" id="{46756F1E-AC28-49D3-93BE-0819F460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38700"/>
            <a:ext cx="1295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Discover candidates</a:t>
            </a:r>
          </a:p>
        </p:txBody>
      </p:sp>
      <p:sp>
        <p:nvSpPr>
          <p:cNvPr id="16" name="stage-sub-Discover candidates">
            <a:extLst xmlns:a="http://schemas.openxmlformats.org/drawingml/2006/main">
              <a:ext uri="{FF2B5EF4-FFF2-40B4-BE49-F238E27FC236}">
                <a16:creationId xmlns:a16="http://schemas.microsoft.com/office/drawing/2014/main" id="{211A0449-FB20-48D1-ACFD-F53FE607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429250"/>
            <a:ext cx="9791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4044"/>
                </a:solidFill>
              </a:defRPr>
            </a:pPr>
            <a:r>
              <a:rPr sz="1200" b="1">
                <a:solidFill>
                  <a:srgbClr val="264044"/>
                </a:solidFill>
              </a:rPr>
              <a:t>Filter by class, similarity, activity, or selectivity</a:t>
            </a:r>
          </a:p>
        </p:txBody>
      </p:sp>
      <p:sp>
        <p:nvSpPr>
          <p:cNvPr id="17" name="stage-Rank evidence">
            <a:extLst xmlns:a="http://schemas.openxmlformats.org/drawingml/2006/main">
              <a:ext uri="{FF2B5EF4-FFF2-40B4-BE49-F238E27FC236}">
                <a16:creationId xmlns:a16="http://schemas.microsoft.com/office/drawing/2014/main" id="{9A5DBFE1-AB21-4E35-A11B-4483F7F1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228" y="5899785"/>
            <a:ext cx="10253472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D8"/>
            </a:solidFill>
            <a:prstDash val="solid"/>
          </a:ln>
        </p:spPr>
      </p:sp>
      <p:sp>
        <p:nvSpPr>
          <p:cNvPr id="18" name="stage-chip-Rank evidence">
            <a:extLst xmlns:a="http://schemas.openxmlformats.org/drawingml/2006/main">
              <a:ext uri="{FF2B5EF4-FFF2-40B4-BE49-F238E27FC236}">
                <a16:creationId xmlns:a16="http://schemas.microsoft.com/office/drawing/2014/main" id="{1E10DDDD-0524-4277-B73D-FA358A8A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828" y="6099810"/>
            <a:ext cx="16192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A83A"/>
          </a:solidFill>
        </p:spPr>
      </p:sp>
      <p:sp>
        <p:nvSpPr>
          <p:cNvPr id="19" name="stage-chip-Rank evidence-text">
            <a:extLst xmlns:a="http://schemas.openxmlformats.org/drawingml/2006/main">
              <a:ext uri="{FF2B5EF4-FFF2-40B4-BE49-F238E27FC236}">
                <a16:creationId xmlns:a16="http://schemas.microsoft.com/office/drawing/2014/main" id="{93609DB2-B2F1-4D1E-A861-74489D01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191250"/>
            <a:ext cx="129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Rank evidence</a:t>
            </a:r>
          </a:p>
        </p:txBody>
      </p:sp>
      <p:sp>
        <p:nvSpPr>
          <p:cNvPr id="20" name="stage-sub-Rank evidence">
            <a:extLst xmlns:a="http://schemas.openxmlformats.org/drawingml/2006/main">
              <a:ext uri="{FF2B5EF4-FFF2-40B4-BE49-F238E27FC236}">
                <a16:creationId xmlns:a16="http://schemas.microsoft.com/office/drawing/2014/main" id="{BAD4AA43-3D4E-4DB0-8408-F37BCD0D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6572250"/>
            <a:ext cx="9791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4044"/>
                </a:solidFill>
              </a:defRPr>
            </a:pPr>
            <a:r>
              <a:rPr sz="1275" b="1">
                <a:solidFill>
                  <a:srgbClr val="264044"/>
                </a:solidFill>
              </a:rPr>
              <a:t>Sort by selected criterion and expose skipped fields</a:t>
            </a:r>
          </a:p>
        </p:txBody>
      </p:sp>
      <p:sp>
        <p:nvSpPr>
          <p:cNvPr id="21" name="stage-Add interpretation">
            <a:extLst xmlns:a="http://schemas.openxmlformats.org/drawingml/2006/main">
              <a:ext uri="{FF2B5EF4-FFF2-40B4-BE49-F238E27FC236}">
                <a16:creationId xmlns:a16="http://schemas.microsoft.com/office/drawing/2014/main" id="{E1DDCDE8-0B9A-4783-B628-FC3D975E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228" y="7099935"/>
            <a:ext cx="10253472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D8"/>
            </a:solidFill>
            <a:prstDash val="solid"/>
          </a:ln>
        </p:spPr>
      </p:sp>
      <p:sp>
        <p:nvSpPr>
          <p:cNvPr id="22" name="stage-chip-Add interpretation">
            <a:extLst xmlns:a="http://schemas.openxmlformats.org/drawingml/2006/main">
              <a:ext uri="{FF2B5EF4-FFF2-40B4-BE49-F238E27FC236}">
                <a16:creationId xmlns:a16="http://schemas.microsoft.com/office/drawing/2014/main" id="{A2A61A98-241B-4F68-BD96-E50FF2F1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828" y="7259955"/>
            <a:ext cx="1619250" cy="6019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5BD0"/>
          </a:solidFill>
        </p:spPr>
      </p:sp>
      <p:sp>
        <p:nvSpPr>
          <p:cNvPr id="23" name="stage-chip-Add interpretation-text">
            <a:extLst xmlns:a="http://schemas.openxmlformats.org/drawingml/2006/main">
              <a:ext uri="{FF2B5EF4-FFF2-40B4-BE49-F238E27FC236}">
                <a16:creationId xmlns:a16="http://schemas.microsoft.com/office/drawing/2014/main" id="{6D891FFF-B8AE-479D-A3E3-65EEE506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7353300"/>
            <a:ext cx="1295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Add interpretation</a:t>
            </a:r>
          </a:p>
        </p:txBody>
      </p:sp>
      <p:sp>
        <p:nvSpPr>
          <p:cNvPr id="24" name="stage-sub-Add interpretation">
            <a:extLst xmlns:a="http://schemas.openxmlformats.org/drawingml/2006/main">
              <a:ext uri="{FF2B5EF4-FFF2-40B4-BE49-F238E27FC236}">
                <a16:creationId xmlns:a16="http://schemas.microsoft.com/office/drawing/2014/main" id="{14DA6B9C-CC28-4A87-B40A-E1D558DD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7943850"/>
            <a:ext cx="9791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4044"/>
                </a:solidFill>
              </a:defRPr>
            </a:pPr>
            <a:r>
              <a:rPr sz="1200" b="1">
                <a:solidFill>
                  <a:srgbClr val="264044"/>
                </a:solidFill>
              </a:rPr>
              <a:t>OpenAI analysis if available; local fallback otherwise</a:t>
            </a:r>
          </a:p>
        </p:txBody>
      </p:sp>
      <p:sp>
        <p:nvSpPr>
          <p:cNvPr id="25" name="stage-Log outcome">
            <a:extLst xmlns:a="http://schemas.openxmlformats.org/drawingml/2006/main">
              <a:ext uri="{FF2B5EF4-FFF2-40B4-BE49-F238E27FC236}">
                <a16:creationId xmlns:a16="http://schemas.microsoft.com/office/drawing/2014/main" id="{36953401-040E-4454-ACF8-CBEC6103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228" y="8414385"/>
            <a:ext cx="10253472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D8"/>
            </a:solidFill>
            <a:prstDash val="solid"/>
          </a:ln>
        </p:spPr>
      </p:sp>
      <p:sp>
        <p:nvSpPr>
          <p:cNvPr id="26" name="stage-chip-Log outcome">
            <a:extLst xmlns:a="http://schemas.openxmlformats.org/drawingml/2006/main">
              <a:ext uri="{FF2B5EF4-FFF2-40B4-BE49-F238E27FC236}">
                <a16:creationId xmlns:a16="http://schemas.microsoft.com/office/drawing/2014/main" id="{4783B446-5FC1-4307-AED6-ABF3AA56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828" y="8671560"/>
            <a:ext cx="16192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5B4D"/>
          </a:solidFill>
        </p:spPr>
      </p:sp>
      <p:sp>
        <p:nvSpPr>
          <p:cNvPr id="27" name="stage-chip-Log outcome-text">
            <a:extLst xmlns:a="http://schemas.openxmlformats.org/drawingml/2006/main">
              <a:ext uri="{FF2B5EF4-FFF2-40B4-BE49-F238E27FC236}">
                <a16:creationId xmlns:a16="http://schemas.microsoft.com/office/drawing/2014/main" id="{ED5F4834-1496-42EB-A5AF-2DD67B35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8763000"/>
            <a:ext cx="129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Log outcome</a:t>
            </a:r>
          </a:p>
        </p:txBody>
      </p:sp>
      <p:sp>
        <p:nvSpPr>
          <p:cNvPr id="28" name="stage-sub-Log outcome">
            <a:extLst xmlns:a="http://schemas.openxmlformats.org/drawingml/2006/main">
              <a:ext uri="{FF2B5EF4-FFF2-40B4-BE49-F238E27FC236}">
                <a16:creationId xmlns:a16="http://schemas.microsoft.com/office/drawing/2014/main" id="{1946C870-2C80-4798-8C31-8416E7A9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9144000"/>
            <a:ext cx="9791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4044"/>
                </a:solidFill>
              </a:defRPr>
            </a:pPr>
            <a:r>
              <a:rPr sz="1275" b="1">
                <a:solidFill>
                  <a:srgbClr val="264044"/>
                </a:solidFill>
              </a:rPr>
              <a:t>Save feedback for review</a:t>
            </a:r>
          </a:p>
        </p:txBody>
      </p:sp>
    </p:spTree>
    <p:extLst>
      <p:ext uri="{BB962C8B-B14F-4D97-AF65-F5344CB8AC3E}">
        <p14:creationId xmlns:p14="http://schemas.microsoft.com/office/powerpoint/2010/main" val="3104038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3381690-6CCB-43FF-B6F9-51A62DBF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16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E8A"/>
                </a:solidFill>
              </a:defRPr>
            </a:pPr>
            <a:r>
              <a:rPr sz="1350" b="1">
                <a:solidFill>
                  <a:srgbClr val="168E8A"/>
                </a:solidFill>
              </a:rPr>
              <a:t>08 / RELIABILITY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8D590C-37C5-4651-B8B7-9D9E546C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09650"/>
            <a:ext cx="126873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B1E"/>
                </a:solidFill>
              </a:defRPr>
            </a:pPr>
            <a:r>
              <a:rPr sz="4350" b="1">
                <a:solidFill>
                  <a:srgbClr val="0D1B1E"/>
                </a:solidFill>
              </a:rPr>
              <a:t>The repaired project now has checks for the failure that triggered this review.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7F3FC1F-8FB5-40C4-92D2-E13784C6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08966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D7376"/>
                </a:solidFill>
              </a:defRPr>
            </a:pPr>
            <a:r>
              <a:rPr sz="1875" b="0">
                <a:solidFill>
                  <a:srgbClr val="5D7376"/>
                </a:solidFill>
              </a:rPr>
              <a:t>The point is not that tests exist. The point is that they cover startup, routing, fallback, and missing-domain errors.</a:t>
            </a:r>
          </a:p>
        </p:txBody>
      </p:sp>
      <p:sp>
        <p:nvSpPr>
          <p:cNvPr id="4" name="dot-Committed service layer">
            <a:extLst xmlns:a="http://schemas.openxmlformats.org/drawingml/2006/main">
              <a:ext uri="{FF2B5EF4-FFF2-40B4-BE49-F238E27FC236}">
                <a16:creationId xmlns:a16="http://schemas.microsoft.com/office/drawing/2014/main" id="{FEDE23A6-F737-4694-B154-414D16EF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E8A"/>
          </a:solidFill>
        </p:spPr>
      </p:sp>
      <p:sp>
        <p:nvSpPr>
          <p:cNvPr id="5" name="bullet-head-Committed service layer">
            <a:extLst xmlns:a="http://schemas.openxmlformats.org/drawingml/2006/main">
              <a:ext uri="{FF2B5EF4-FFF2-40B4-BE49-F238E27FC236}">
                <a16:creationId xmlns:a16="http://schemas.microsoft.com/office/drawing/2014/main" id="{FC51864A-3B47-41C6-A769-A510AE0F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38750"/>
            <a:ext cx="7715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1B1E"/>
                </a:solidFill>
              </a:defRPr>
            </a:pPr>
            <a:r>
              <a:rPr sz="2250" b="1">
                <a:solidFill>
                  <a:srgbClr val="0D1B1E"/>
                </a:solidFill>
              </a:rPr>
              <a:t>Committed service layer</a:t>
            </a:r>
          </a:p>
        </p:txBody>
      </p:sp>
      <p:sp>
        <p:nvSpPr>
          <p:cNvPr id="6" name="bullet-detail-Committed service layer">
            <a:extLst xmlns:a="http://schemas.openxmlformats.org/drawingml/2006/main">
              <a:ext uri="{FF2B5EF4-FFF2-40B4-BE49-F238E27FC236}">
                <a16:creationId xmlns:a16="http://schemas.microsoft.com/office/drawing/2014/main" id="{D3555471-6F8B-4090-A220-61D4BD06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38800"/>
            <a:ext cx="771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D7376"/>
                </a:solidFill>
              </a:defRPr>
            </a:pPr>
            <a:r>
              <a:rPr sz="1650" b="0">
                <a:solidFill>
                  <a:srgbClr val="5D7376"/>
                </a:solidFill>
              </a:rPr>
              <a:t>`services/` is part of the tree and imported by both Flask and agent wrappers.</a:t>
            </a:r>
          </a:p>
        </p:txBody>
      </p:sp>
      <p:sp>
        <p:nvSpPr>
          <p:cNvPr id="7" name="dot-Direct startup path">
            <a:extLst xmlns:a="http://schemas.openxmlformats.org/drawingml/2006/main">
              <a:ext uri="{FF2B5EF4-FFF2-40B4-BE49-F238E27FC236}">
                <a16:creationId xmlns:a16="http://schemas.microsoft.com/office/drawing/2014/main" id="{8C9F54AC-D646-4D51-9674-9978F88D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722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75D8"/>
          </a:solidFill>
        </p:spPr>
      </p:sp>
      <p:sp>
        <p:nvSpPr>
          <p:cNvPr id="8" name="bullet-head-Direct startup path">
            <a:extLst xmlns:a="http://schemas.openxmlformats.org/drawingml/2006/main">
              <a:ext uri="{FF2B5EF4-FFF2-40B4-BE49-F238E27FC236}">
                <a16:creationId xmlns:a16="http://schemas.microsoft.com/office/drawing/2014/main" id="{2CA88209-A0F0-4BBA-B094-771D6CFC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72200"/>
            <a:ext cx="7715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1B1E"/>
                </a:solidFill>
              </a:defRPr>
            </a:pPr>
            <a:r>
              <a:rPr sz="2250" b="1">
                <a:solidFill>
                  <a:srgbClr val="0D1B1E"/>
                </a:solidFill>
              </a:rPr>
              <a:t>Direct startup path</a:t>
            </a:r>
          </a:p>
        </p:txBody>
      </p:sp>
      <p:sp>
        <p:nvSpPr>
          <p:cNvPr id="9" name="bullet-detail-Direct startup path">
            <a:extLst xmlns:a="http://schemas.openxmlformats.org/drawingml/2006/main">
              <a:ext uri="{FF2B5EF4-FFF2-40B4-BE49-F238E27FC236}">
                <a16:creationId xmlns:a16="http://schemas.microsoft.com/office/drawing/2014/main" id="{F0FC9552-21A1-4A3C-9ADA-670B00D2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572250"/>
            <a:ext cx="771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D7376"/>
                </a:solidFill>
              </a:defRPr>
            </a:pPr>
            <a:r>
              <a:rPr sz="1650" b="0">
                <a:solidFill>
                  <a:srgbClr val="5D7376"/>
                </a:solidFill>
              </a:rPr>
              <a:t>The Flask backend no longer requires a separate Bureau for the dashboard to run.</a:t>
            </a:r>
          </a:p>
        </p:txBody>
      </p:sp>
      <p:sp>
        <p:nvSpPr>
          <p:cNvPr id="10" name="dot-Graceful degradation">
            <a:extLst xmlns:a="http://schemas.openxmlformats.org/drawingml/2006/main">
              <a:ext uri="{FF2B5EF4-FFF2-40B4-BE49-F238E27FC236}">
                <a16:creationId xmlns:a16="http://schemas.microsoft.com/office/drawing/2014/main" id="{227E158E-CE0B-49AD-A9B6-1F80830A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866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A83A"/>
          </a:solidFill>
        </p:spPr>
      </p:sp>
      <p:sp>
        <p:nvSpPr>
          <p:cNvPr id="11" name="bullet-head-Graceful degradation">
            <a:extLst xmlns:a="http://schemas.openxmlformats.org/drawingml/2006/main">
              <a:ext uri="{FF2B5EF4-FFF2-40B4-BE49-F238E27FC236}">
                <a16:creationId xmlns:a16="http://schemas.microsoft.com/office/drawing/2014/main" id="{CEB52832-BECD-4C05-ABA2-68B4076A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086600"/>
            <a:ext cx="7715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1B1E"/>
                </a:solidFill>
              </a:defRPr>
            </a:pPr>
            <a:r>
              <a:rPr sz="2250" b="1">
                <a:solidFill>
                  <a:srgbClr val="0D1B1E"/>
                </a:solidFill>
              </a:rPr>
              <a:t>Graceful degradation</a:t>
            </a:r>
          </a:p>
        </p:txBody>
      </p:sp>
      <p:sp>
        <p:nvSpPr>
          <p:cNvPr id="12" name="bullet-detail-Graceful degradation">
            <a:extLst xmlns:a="http://schemas.openxmlformats.org/drawingml/2006/main">
              <a:ext uri="{FF2B5EF4-FFF2-40B4-BE49-F238E27FC236}">
                <a16:creationId xmlns:a16="http://schemas.microsoft.com/office/drawing/2014/main" id="{C7C21D25-FF0B-4E2D-AC18-7224A910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486650"/>
            <a:ext cx="771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D7376"/>
                </a:solidFill>
              </a:defRPr>
            </a:pPr>
            <a:r>
              <a:rPr sz="1650" b="0">
                <a:solidFill>
                  <a:srgbClr val="5D7376"/>
                </a:solidFill>
              </a:rPr>
              <a:t>OpenAI failures route to explicit local fallback instead of blank or misleading output.</a:t>
            </a:r>
          </a:p>
        </p:txBody>
      </p:sp>
      <p:sp>
        <p:nvSpPr>
          <p:cNvPr id="13" name="test-proof">
            <a:extLst xmlns:a="http://schemas.openxmlformats.org/drawingml/2006/main">
              <a:ext uri="{FF2B5EF4-FFF2-40B4-BE49-F238E27FC236}">
                <a16:creationId xmlns:a16="http://schemas.microsoft.com/office/drawing/2014/main" id="{097B427F-7016-4C77-88E5-F01F250A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360420"/>
            <a:ext cx="8010525" cy="5191125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14" name="validation-label">
            <a:extLst xmlns:a="http://schemas.openxmlformats.org/drawingml/2006/main">
              <a:ext uri="{FF2B5EF4-FFF2-40B4-BE49-F238E27FC236}">
                <a16:creationId xmlns:a16="http://schemas.microsoft.com/office/drawing/2014/main" id="{6A6E7524-121B-45C3-BE33-E6664753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743450"/>
            <a:ext cx="7258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8E8A"/>
                </a:solidFill>
              </a:defRPr>
            </a:pPr>
            <a:r>
              <a:rPr sz="1650" b="1">
                <a:solidFill>
                  <a:srgbClr val="168E8A"/>
                </a:solidFill>
              </a:rPr>
              <a:t>Validation passed</a:t>
            </a:r>
          </a:p>
        </p:txBody>
      </p:sp>
      <p:sp>
        <p:nvSpPr>
          <p:cNvPr id="15" name="validation-main">
            <a:extLst xmlns:a="http://schemas.openxmlformats.org/drawingml/2006/main">
              <a:ext uri="{FF2B5EF4-FFF2-40B4-BE49-F238E27FC236}">
                <a16:creationId xmlns:a16="http://schemas.microsoft.com/office/drawing/2014/main" id="{CCD9562B-A7EF-454C-87CF-7C4F8ED9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200650"/>
            <a:ext cx="72580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D1B1E"/>
                </a:solidFill>
              </a:defRPr>
            </a:pPr>
            <a:r>
              <a:rPr sz="3225" b="1">
                <a:solidFill>
                  <a:srgbClr val="0D1B1E"/>
                </a:solidFill>
              </a:rPr>
              <a:t>Backend tests, compile sweep, frontend build, and HTTP health smoke.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B1BA5B-E49D-403D-82C3-194A52FF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40080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A"/>
          </a:solidFill>
          <a:ln xmlns:a="http://schemas.openxmlformats.org/drawingml/2006/main" w="0">
            <a:solidFill>
              <a:srgbClr val="168E8A"/>
            </a:solidFill>
            <a:prstDash val="solid"/>
          </a:ln>
        </p:spPr>
      </p:sp>
      <p:sp>
        <p:nvSpPr>
          <p:cNvPr id="17" name="validation-note">
            <a:extLst xmlns:a="http://schemas.openxmlformats.org/drawingml/2006/main">
              <a:ext uri="{FF2B5EF4-FFF2-40B4-BE49-F238E27FC236}">
                <a16:creationId xmlns:a16="http://schemas.microsoft.com/office/drawing/2014/main" id="{5B845E4F-6CBA-4F9E-B789-FF2C64B3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648450"/>
            <a:ext cx="7258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D7376"/>
                </a:solidFill>
              </a:defRPr>
            </a:pPr>
            <a:r>
              <a:rPr sz="1725" b="0">
                <a:solidFill>
                  <a:srgbClr val="5D7376"/>
                </a:solidFill>
              </a:rPr>
              <a:t>Regression tests cover `/health`, compound lookup, discovery ranking, local generation, and unknown-molecule 404.</a:t>
            </a:r>
          </a:p>
        </p:txBody>
      </p:sp>
    </p:spTree>
    <p:extLst>
      <p:ext uri="{BB962C8B-B14F-4D97-AF65-F5344CB8AC3E}">
        <p14:creationId xmlns:p14="http://schemas.microsoft.com/office/powerpoint/2010/main" val="10438640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2F5F48D0-B1D6-400E-97EB-C335E309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2114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E8A"/>
                </a:solidFill>
              </a:defRPr>
            </a:pPr>
            <a:r>
              <a:rPr sz="1350" b="1">
                <a:solidFill>
                  <a:srgbClr val="168E8A"/>
                </a:solidFill>
              </a:rPr>
              <a:t>10 / IMPACT AND NEXT STEPS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B75EED-D596-49FF-AB84-10067AED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09650"/>
            <a:ext cx="129349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B1E"/>
                </a:solidFill>
              </a:defRPr>
            </a:pPr>
            <a:r>
              <a:rPr sz="4350" b="1">
                <a:solidFill>
                  <a:srgbClr val="0D1B1E"/>
                </a:solidFill>
              </a:rPr>
              <a:t>The next version should be harder to break and easier to prove.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B6EA913-E40F-46E7-90CA-C1CBB8FA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0191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D7376"/>
                </a:solidFill>
              </a:defRPr>
            </a:pPr>
            <a:r>
              <a:rPr sz="1875" b="0">
                <a:solidFill>
                  <a:srgbClr val="5D7376"/>
                </a:solidFill>
              </a:rPr>
              <a:t>Impact comes from faster screening, visible reasoning, and a deployment path that survives a fresh clone.</a:t>
            </a:r>
          </a:p>
        </p:txBody>
      </p:sp>
      <p:sp>
        <p:nvSpPr>
          <p:cNvPr id="4" name="next-1">
            <a:extLst xmlns:a="http://schemas.openxmlformats.org/drawingml/2006/main">
              <a:ext uri="{FF2B5EF4-FFF2-40B4-BE49-F238E27FC236}">
                <a16:creationId xmlns:a16="http://schemas.microsoft.com/office/drawing/2014/main" id="{207AD3A3-A26D-4619-B1DA-DBBB4735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60420"/>
            <a:ext cx="5334000" cy="4095750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5" name="next-data">
            <a:extLst xmlns:a="http://schemas.openxmlformats.org/drawingml/2006/main">
              <a:ext uri="{FF2B5EF4-FFF2-40B4-BE49-F238E27FC236}">
                <a16:creationId xmlns:a16="http://schemas.microsoft.com/office/drawing/2014/main" id="{38DA0E83-D168-4F16-B08E-746AA6DE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84270"/>
            <a:ext cx="16192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75D8"/>
          </a:solidFill>
        </p:spPr>
      </p:sp>
      <p:sp>
        <p:nvSpPr>
          <p:cNvPr id="6" name="next-data-text">
            <a:extLst xmlns:a="http://schemas.openxmlformats.org/drawingml/2006/main">
              <a:ext uri="{FF2B5EF4-FFF2-40B4-BE49-F238E27FC236}">
                <a16:creationId xmlns:a16="http://schemas.microsoft.com/office/drawing/2014/main" id="{4FC46C0E-6193-4412-9815-92DC6193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129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7" name="next-data-title">
            <a:extLst xmlns:a="http://schemas.openxmlformats.org/drawingml/2006/main">
              <a:ext uri="{FF2B5EF4-FFF2-40B4-BE49-F238E27FC236}">
                <a16:creationId xmlns:a16="http://schemas.microsoft.com/office/drawing/2014/main" id="{E479D8E3-9D4D-4D03-8692-968C6110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67200"/>
            <a:ext cx="4686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D1B1E"/>
                </a:solidFill>
              </a:defRPr>
            </a:pPr>
            <a:r>
              <a:rPr sz="2700" b="1">
                <a:solidFill>
                  <a:srgbClr val="0D1B1E"/>
                </a:solidFill>
              </a:rPr>
              <a:t>Expand the knowledge base</a:t>
            </a:r>
          </a:p>
        </p:txBody>
      </p:sp>
      <p:sp>
        <p:nvSpPr>
          <p:cNvPr id="8" name="next-data-copy">
            <a:extLst xmlns:a="http://schemas.openxmlformats.org/drawingml/2006/main">
              <a:ext uri="{FF2B5EF4-FFF2-40B4-BE49-F238E27FC236}">
                <a16:creationId xmlns:a16="http://schemas.microsoft.com/office/drawing/2014/main" id="{ACE450F4-6F93-4079-BD53-D8C1BC99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76800"/>
            <a:ext cx="4686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D7376"/>
                </a:solidFill>
              </a:defRPr>
            </a:pPr>
            <a:r>
              <a:rPr sz="1800" b="0">
                <a:solidFill>
                  <a:srgbClr val="5D7376"/>
                </a:solidFill>
              </a:rPr>
              <a:t>Add richer catalyst, enzyme, condition, yield, stability, and provenance fields.</a:t>
            </a:r>
          </a:p>
        </p:txBody>
      </p:sp>
      <p:sp>
        <p:nvSpPr>
          <p:cNvPr id="9" name="next-2">
            <a:extLst xmlns:a="http://schemas.openxmlformats.org/drawingml/2006/main">
              <a:ext uri="{FF2B5EF4-FFF2-40B4-BE49-F238E27FC236}">
                <a16:creationId xmlns:a16="http://schemas.microsoft.com/office/drawing/2014/main" id="{B9305E27-C60D-4996-9EC6-669CB45D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60420"/>
            <a:ext cx="5334000" cy="4095750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10" name="next-learning">
            <a:extLst xmlns:a="http://schemas.openxmlformats.org/drawingml/2006/main">
              <a:ext uri="{FF2B5EF4-FFF2-40B4-BE49-F238E27FC236}">
                <a16:creationId xmlns:a16="http://schemas.microsoft.com/office/drawing/2014/main" id="{740AA67C-4BA0-4E57-B618-2A2736B4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84270"/>
            <a:ext cx="16192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E8A"/>
          </a:solidFill>
        </p:spPr>
      </p:sp>
      <p:sp>
        <p:nvSpPr>
          <p:cNvPr id="11" name="next-learning-text">
            <a:extLst xmlns:a="http://schemas.openxmlformats.org/drawingml/2006/main">
              <a:ext uri="{FF2B5EF4-FFF2-40B4-BE49-F238E27FC236}">
                <a16:creationId xmlns:a16="http://schemas.microsoft.com/office/drawing/2014/main" id="{F114FA78-D1D9-4670-A5A1-418C90E4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71900"/>
            <a:ext cx="129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Learning</a:t>
            </a:r>
          </a:p>
        </p:txBody>
      </p:sp>
      <p:sp>
        <p:nvSpPr>
          <p:cNvPr id="12" name="next-learning-title">
            <a:extLst xmlns:a="http://schemas.openxmlformats.org/drawingml/2006/main">
              <a:ext uri="{FF2B5EF4-FFF2-40B4-BE49-F238E27FC236}">
                <a16:creationId xmlns:a16="http://schemas.microsoft.com/office/drawing/2014/main" id="{F3689B48-9049-4C55-9714-4724BA98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67200"/>
            <a:ext cx="4686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D1B1E"/>
                </a:solidFill>
              </a:defRPr>
            </a:pPr>
            <a:r>
              <a:rPr sz="2700" b="1">
                <a:solidFill>
                  <a:srgbClr val="0D1B1E"/>
                </a:solidFill>
              </a:rPr>
              <a:t>Use feedback as evidence</a:t>
            </a:r>
          </a:p>
        </p:txBody>
      </p:sp>
      <p:sp>
        <p:nvSpPr>
          <p:cNvPr id="13" name="next-learning-copy">
            <a:extLst xmlns:a="http://schemas.openxmlformats.org/drawingml/2006/main">
              <a:ext uri="{FF2B5EF4-FFF2-40B4-BE49-F238E27FC236}">
                <a16:creationId xmlns:a16="http://schemas.microsoft.com/office/drawing/2014/main" id="{9625F380-36B2-463C-857E-5EFEE4A7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76800"/>
            <a:ext cx="4686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D7376"/>
                </a:solidFill>
              </a:defRPr>
            </a:pPr>
            <a:r>
              <a:rPr sz="1800" b="0">
                <a:solidFill>
                  <a:srgbClr val="5D7376"/>
                </a:solidFill>
              </a:rPr>
              <a:t>Turn experiment logs into calibration data instead of a passive audit trail.</a:t>
            </a:r>
          </a:p>
        </p:txBody>
      </p:sp>
      <p:sp>
        <p:nvSpPr>
          <p:cNvPr id="14" name="next-3">
            <a:extLst xmlns:a="http://schemas.openxmlformats.org/drawingml/2006/main">
              <a:ext uri="{FF2B5EF4-FFF2-40B4-BE49-F238E27FC236}">
                <a16:creationId xmlns:a16="http://schemas.microsoft.com/office/drawing/2014/main" id="{9A8A0221-FDC8-4230-BBEB-D90A96BE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3360420"/>
            <a:ext cx="5334000" cy="4095750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15" name="next-deploy">
            <a:extLst xmlns:a="http://schemas.openxmlformats.org/drawingml/2006/main">
              <a:ext uri="{FF2B5EF4-FFF2-40B4-BE49-F238E27FC236}">
                <a16:creationId xmlns:a16="http://schemas.microsoft.com/office/drawing/2014/main" id="{B6A7C36C-2DF8-4444-8E2B-7F96FB38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3684270"/>
            <a:ext cx="16192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A83A"/>
          </a:solidFill>
        </p:spPr>
      </p:sp>
      <p:sp>
        <p:nvSpPr>
          <p:cNvPr id="16" name="next-deploy-text">
            <a:extLst xmlns:a="http://schemas.openxmlformats.org/drawingml/2006/main">
              <a:ext uri="{FF2B5EF4-FFF2-40B4-BE49-F238E27FC236}">
                <a16:creationId xmlns:a16="http://schemas.microsoft.com/office/drawing/2014/main" id="{2E04CE80-C691-47F5-B49D-D3F2EFCB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771900"/>
            <a:ext cx="129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514"/>
                </a:solidFill>
              </a:defRPr>
            </a:pPr>
            <a:r>
              <a:rPr sz="1350" b="1">
                <a:solidFill>
                  <a:srgbClr val="071514"/>
                </a:solidFill>
              </a:rPr>
              <a:t>Deployment</a:t>
            </a:r>
          </a:p>
        </p:txBody>
      </p:sp>
      <p:sp>
        <p:nvSpPr>
          <p:cNvPr id="17" name="next-deploy-title">
            <a:extLst xmlns:a="http://schemas.openxmlformats.org/drawingml/2006/main">
              <a:ext uri="{FF2B5EF4-FFF2-40B4-BE49-F238E27FC236}">
                <a16:creationId xmlns:a16="http://schemas.microsoft.com/office/drawing/2014/main" id="{13A8546F-CA8E-402D-915B-BE9B09FE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267200"/>
            <a:ext cx="4686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D1B1E"/>
                </a:solidFill>
              </a:defRPr>
            </a:pPr>
            <a:r>
              <a:rPr sz="2700" b="1">
                <a:solidFill>
                  <a:srgbClr val="0D1B1E"/>
                </a:solidFill>
              </a:rPr>
              <a:t>Prove fresh-clone reliability</a:t>
            </a:r>
          </a:p>
        </p:txBody>
      </p:sp>
      <p:sp>
        <p:nvSpPr>
          <p:cNvPr id="18" name="next-deploy-copy">
            <a:extLst xmlns:a="http://schemas.openxmlformats.org/drawingml/2006/main">
              <a:ext uri="{FF2B5EF4-FFF2-40B4-BE49-F238E27FC236}">
                <a16:creationId xmlns:a16="http://schemas.microsoft.com/office/drawing/2014/main" id="{79091141-1868-46C2-8086-BEB47DE5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876800"/>
            <a:ext cx="4686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D7376"/>
                </a:solidFill>
              </a:defRPr>
            </a:pPr>
            <a:r>
              <a:rPr sz="1800" b="0">
                <a:solidFill>
                  <a:srgbClr val="5D7376"/>
                </a:solidFill>
              </a:rPr>
              <a:t>Run CI on backend tests, frontend build, import checks, and API smoke tests.</a:t>
            </a:r>
          </a:p>
        </p:txBody>
      </p:sp>
    </p:spTree>
    <p:extLst>
      <p:ext uri="{BB962C8B-B14F-4D97-AF65-F5344CB8AC3E}">
        <p14:creationId xmlns:p14="http://schemas.microsoft.com/office/powerpoint/2010/main" val="18202243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2026-05-07T13:48:36.0330000Z</dcterms:created>
  <dcterms:modified xsi:type="dcterms:W3CDTF">2026-05-07T13:48:36.0330000Z</dcterms:modified>
</coreProperties>
</file>